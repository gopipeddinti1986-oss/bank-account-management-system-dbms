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94660"/>
  </p:normalViewPr>
  <p:slideViewPr>
    <p:cSldViewPr snapToGrid="0">
      <p:cViewPr varScale="1">
        <p:scale>
          <a:sx n="50" d="100"/>
          <a:sy n="50" d="100"/>
        </p:scale>
        <p:origin x="60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wanth REDDY" userId="17ba503f79c0933a" providerId="LiveId" clId="{03842ED0-9CD0-4371-A8B7-EB5A6AB1BE9C}"/>
    <pc:docChg chg="undo redo custSel modSld sldOrd">
      <pc:chgData name="Jaswanth REDDY" userId="17ba503f79c0933a" providerId="LiveId" clId="{03842ED0-9CD0-4371-A8B7-EB5A6AB1BE9C}" dt="2026-09-29T15:53:26.719" v="1318" actId="1076"/>
      <pc:docMkLst>
        <pc:docMk/>
      </pc:docMkLst>
      <pc:sldChg chg="modSp mod">
        <pc:chgData name="Jaswanth REDDY" userId="17ba503f79c0933a" providerId="LiveId" clId="{03842ED0-9CD0-4371-A8B7-EB5A6AB1BE9C}" dt="2026-09-17T08:59:49.410" v="1312" actId="403"/>
        <pc:sldMkLst>
          <pc:docMk/>
          <pc:sldMk cId="3096920367" sldId="256"/>
        </pc:sldMkLst>
        <pc:spChg chg="mod">
          <ac:chgData name="Jaswanth REDDY" userId="17ba503f79c0933a" providerId="LiveId" clId="{03842ED0-9CD0-4371-A8B7-EB5A6AB1BE9C}" dt="2026-09-17T08:59:49.410" v="1312" actId="403"/>
          <ac:spMkLst>
            <pc:docMk/>
            <pc:sldMk cId="3096920367" sldId="256"/>
            <ac:spMk id="5" creationId="{00000000-0000-0000-0000-000000000000}"/>
          </ac:spMkLst>
        </pc:spChg>
        <pc:spChg chg="mod">
          <ac:chgData name="Jaswanth REDDY" userId="17ba503f79c0933a" providerId="LiveId" clId="{03842ED0-9CD0-4371-A8B7-EB5A6AB1BE9C}" dt="2026-09-17T08:59:49.410" v="1312" actId="403"/>
          <ac:spMkLst>
            <pc:docMk/>
            <pc:sldMk cId="3096920367" sldId="256"/>
            <ac:spMk id="6" creationId="{00000000-0000-0000-0000-000000000000}"/>
          </ac:spMkLst>
        </pc:spChg>
      </pc:sldChg>
      <pc:sldChg chg="addSp delSp modSp mod">
        <pc:chgData name="Jaswanth REDDY" userId="17ba503f79c0933a" providerId="LiveId" clId="{03842ED0-9CD0-4371-A8B7-EB5A6AB1BE9C}" dt="2026-09-14T16:10:32.447" v="155" actId="11"/>
        <pc:sldMkLst>
          <pc:docMk/>
          <pc:sldMk cId="2619643171" sldId="257"/>
        </pc:sldMkLst>
        <pc:spChg chg="mod">
          <ac:chgData name="Jaswanth REDDY" userId="17ba503f79c0933a" providerId="LiveId" clId="{03842ED0-9CD0-4371-A8B7-EB5A6AB1BE9C}" dt="2026-09-14T16:09:05.208" v="149" actId="14100"/>
          <ac:spMkLst>
            <pc:docMk/>
            <pc:sldMk cId="2619643171" sldId="257"/>
            <ac:spMk id="4" creationId="{00000000-0000-0000-0000-000000000000}"/>
          </ac:spMkLst>
        </pc:spChg>
        <pc:spChg chg="add del mod">
          <ac:chgData name="Jaswanth REDDY" userId="17ba503f79c0933a" providerId="LiveId" clId="{03842ED0-9CD0-4371-A8B7-EB5A6AB1BE9C}" dt="2026-09-14T16:10:32.447" v="155" actId="11"/>
          <ac:spMkLst>
            <pc:docMk/>
            <pc:sldMk cId="2619643171" sldId="257"/>
            <ac:spMk id="20" creationId="{00000000-0000-0000-0000-000000000000}"/>
          </ac:spMkLst>
        </pc:spChg>
        <pc:grpChg chg="mod">
          <ac:chgData name="Jaswanth REDDY" userId="17ba503f79c0933a" providerId="LiveId" clId="{03842ED0-9CD0-4371-A8B7-EB5A6AB1BE9C}" dt="2026-09-14T16:09:12.520" v="150" actId="1076"/>
          <ac:grpSpMkLst>
            <pc:docMk/>
            <pc:sldMk cId="2619643171" sldId="257"/>
            <ac:grpSpMk id="5" creationId="{00000000-0000-0000-0000-000000000000}"/>
          </ac:grpSpMkLst>
        </pc:grpChg>
      </pc:sldChg>
      <pc:sldChg chg="modSp mod">
        <pc:chgData name="Jaswanth REDDY" userId="17ba503f79c0933a" providerId="LiveId" clId="{03842ED0-9CD0-4371-A8B7-EB5A6AB1BE9C}" dt="2026-09-17T08:35:50.183" v="1286" actId="20577"/>
        <pc:sldMkLst>
          <pc:docMk/>
          <pc:sldMk cId="434036905" sldId="258"/>
        </pc:sldMkLst>
        <pc:spChg chg="mod">
          <ac:chgData name="Jaswanth REDDY" userId="17ba503f79c0933a" providerId="LiveId" clId="{03842ED0-9CD0-4371-A8B7-EB5A6AB1BE9C}" dt="2026-09-17T08:35:50.183" v="1286" actId="20577"/>
          <ac:spMkLst>
            <pc:docMk/>
            <pc:sldMk cId="434036905" sldId="258"/>
            <ac:spMk id="13" creationId="{BA9854BB-1B5D-0E6B-36E3-253ADCD18991}"/>
          </ac:spMkLst>
        </pc:spChg>
      </pc:sldChg>
      <pc:sldChg chg="modSp mod">
        <pc:chgData name="Jaswanth REDDY" userId="17ba503f79c0933a" providerId="LiveId" clId="{03842ED0-9CD0-4371-A8B7-EB5A6AB1BE9C}" dt="2026-09-17T08:37:15.347" v="1289" actId="1076"/>
        <pc:sldMkLst>
          <pc:docMk/>
          <pc:sldMk cId="4132545752" sldId="259"/>
        </pc:sldMkLst>
        <pc:spChg chg="mod">
          <ac:chgData name="Jaswanth REDDY" userId="17ba503f79c0933a" providerId="LiveId" clId="{03842ED0-9CD0-4371-A8B7-EB5A6AB1BE9C}" dt="2026-09-17T08:37:15.347" v="1289" actId="1076"/>
          <ac:spMkLst>
            <pc:docMk/>
            <pc:sldMk cId="4132545752" sldId="259"/>
            <ac:spMk id="3" creationId="{E41DBE56-6236-3F90-E145-023903FB6707}"/>
          </ac:spMkLst>
        </pc:spChg>
        <pc:grpChg chg="mod">
          <ac:chgData name="Jaswanth REDDY" userId="17ba503f79c0933a" providerId="LiveId" clId="{03842ED0-9CD0-4371-A8B7-EB5A6AB1BE9C}" dt="2026-09-14T16:13:43.733" v="172" actId="1076"/>
          <ac:grpSpMkLst>
            <pc:docMk/>
            <pc:sldMk cId="4132545752" sldId="259"/>
            <ac:grpSpMk id="4" creationId="{14A7F8A6-BC75-2C30-6F74-66BD0608460D}"/>
          </ac:grpSpMkLst>
        </pc:grpChg>
      </pc:sldChg>
      <pc:sldChg chg="addSp modSp mod">
        <pc:chgData name="Jaswanth REDDY" userId="17ba503f79c0933a" providerId="LiveId" clId="{03842ED0-9CD0-4371-A8B7-EB5A6AB1BE9C}" dt="2026-09-14T16:27:10.270" v="498" actId="403"/>
        <pc:sldMkLst>
          <pc:docMk/>
          <pc:sldMk cId="3659977081" sldId="260"/>
        </pc:sldMkLst>
        <pc:graphicFrameChg chg="mod modGraphic">
          <ac:chgData name="Jaswanth REDDY" userId="17ba503f79c0933a" providerId="LiveId" clId="{03842ED0-9CD0-4371-A8B7-EB5A6AB1BE9C}" dt="2026-09-14T16:27:10.270" v="498" actId="403"/>
          <ac:graphicFrameMkLst>
            <pc:docMk/>
            <pc:sldMk cId="3659977081" sldId="260"/>
            <ac:graphicFrameMk id="10" creationId="{F51C2E1A-0755-CE58-53FC-66A32F5D8AD6}"/>
          </ac:graphicFrameMkLst>
        </pc:graphicFrameChg>
      </pc:sldChg>
      <pc:sldChg chg="addSp delSp modSp mod">
        <pc:chgData name="Jaswanth REDDY" userId="17ba503f79c0933a" providerId="LiveId" clId="{03842ED0-9CD0-4371-A8B7-EB5A6AB1BE9C}" dt="2026-09-15T05:48:47.641" v="1211" actId="1076"/>
        <pc:sldMkLst>
          <pc:docMk/>
          <pc:sldMk cId="1265641485" sldId="261"/>
        </pc:sldMkLst>
        <pc:spChg chg="add mod">
          <ac:chgData name="Jaswanth REDDY" userId="17ba503f79c0933a" providerId="LiveId" clId="{03842ED0-9CD0-4371-A8B7-EB5A6AB1BE9C}" dt="2026-09-15T05:48:47.641" v="1211" actId="1076"/>
          <ac:spMkLst>
            <pc:docMk/>
            <pc:sldMk cId="1265641485" sldId="261"/>
            <ac:spMk id="13" creationId="{67E0DA6B-5B6B-25EB-7A09-7B09EBF05CB4}"/>
          </ac:spMkLst>
        </pc:spChg>
        <pc:picChg chg="add mod">
          <ac:chgData name="Jaswanth REDDY" userId="17ba503f79c0933a" providerId="LiveId" clId="{03842ED0-9CD0-4371-A8B7-EB5A6AB1BE9C}" dt="2026-09-15T05:39:52.448" v="1208" actId="14100"/>
          <ac:picMkLst>
            <pc:docMk/>
            <pc:sldMk cId="1265641485" sldId="261"/>
            <ac:picMk id="12" creationId="{2BE8471B-3C70-ECED-9AA9-7618AA078C08}"/>
          </ac:picMkLst>
        </pc:picChg>
      </pc:sldChg>
      <pc:sldChg chg="addSp delSp modSp mod">
        <pc:chgData name="Jaswanth REDDY" userId="17ba503f79c0933a" providerId="LiveId" clId="{03842ED0-9CD0-4371-A8B7-EB5A6AB1BE9C}" dt="2026-09-15T06:34:30.204" v="1227" actId="1076"/>
        <pc:sldMkLst>
          <pc:docMk/>
          <pc:sldMk cId="1623409635" sldId="262"/>
        </pc:sldMkLst>
        <pc:spChg chg="add mod">
          <ac:chgData name="Jaswanth REDDY" userId="17ba503f79c0933a" providerId="LiveId" clId="{03842ED0-9CD0-4371-A8B7-EB5A6AB1BE9C}" dt="2026-09-15T06:34:30.204" v="1227" actId="1076"/>
          <ac:spMkLst>
            <pc:docMk/>
            <pc:sldMk cId="1623409635" sldId="262"/>
            <ac:spMk id="13" creationId="{BB3738FC-A5ED-02E7-2F11-DCDEC28D9C8E}"/>
          </ac:spMkLst>
        </pc:spChg>
        <pc:picChg chg="add mod">
          <ac:chgData name="Jaswanth REDDY" userId="17ba503f79c0933a" providerId="LiveId" clId="{03842ED0-9CD0-4371-A8B7-EB5A6AB1BE9C}" dt="2026-09-15T06:33:39.040" v="1219" actId="1076"/>
          <ac:picMkLst>
            <pc:docMk/>
            <pc:sldMk cId="1623409635" sldId="262"/>
            <ac:picMk id="12" creationId="{FEF5F879-2061-9531-B130-70F37F4AA741}"/>
          </ac:picMkLst>
        </pc:picChg>
      </pc:sldChg>
      <pc:sldChg chg="ord">
        <pc:chgData name="Jaswanth REDDY" userId="17ba503f79c0933a" providerId="LiveId" clId="{03842ED0-9CD0-4371-A8B7-EB5A6AB1BE9C}" dt="2026-09-14T16:40:02.816" v="734"/>
        <pc:sldMkLst>
          <pc:docMk/>
          <pc:sldMk cId="1573459892" sldId="263"/>
        </pc:sldMkLst>
      </pc:sldChg>
      <pc:sldChg chg="addSp modSp mod">
        <pc:chgData name="Jaswanth REDDY" userId="17ba503f79c0933a" providerId="LiveId" clId="{03842ED0-9CD0-4371-A8B7-EB5A6AB1BE9C}" dt="2026-09-17T08:34:39.422" v="1283" actId="20577"/>
        <pc:sldMkLst>
          <pc:docMk/>
          <pc:sldMk cId="433175587" sldId="264"/>
        </pc:sldMkLst>
        <pc:spChg chg="mod">
          <ac:chgData name="Jaswanth REDDY" userId="17ba503f79c0933a" providerId="LiveId" clId="{03842ED0-9CD0-4371-A8B7-EB5A6AB1BE9C}" dt="2026-09-17T07:46:46.309" v="1232" actId="1076"/>
          <ac:spMkLst>
            <pc:docMk/>
            <pc:sldMk cId="433175587" sldId="264"/>
            <ac:spMk id="10" creationId="{745D5643-D008-58C7-4B65-0FB699EF962E}"/>
          </ac:spMkLst>
        </pc:spChg>
        <pc:graphicFrameChg chg="add mod modGraphic">
          <ac:chgData name="Jaswanth REDDY" userId="17ba503f79c0933a" providerId="LiveId" clId="{03842ED0-9CD0-4371-A8B7-EB5A6AB1BE9C}" dt="2026-09-17T08:34:39.422" v="1283" actId="20577"/>
          <ac:graphicFrameMkLst>
            <pc:docMk/>
            <pc:sldMk cId="433175587" sldId="264"/>
            <ac:graphicFrameMk id="11" creationId="{51B47E83-B352-D872-6232-31D51929E03E}"/>
          </ac:graphicFrameMkLst>
        </pc:graphicFrameChg>
      </pc:sldChg>
      <pc:sldChg chg="modSp mod">
        <pc:chgData name="Jaswanth REDDY" userId="17ba503f79c0933a" providerId="LiveId" clId="{03842ED0-9CD0-4371-A8B7-EB5A6AB1BE9C}" dt="2026-09-15T04:05:39.489" v="1188" actId="20577"/>
        <pc:sldMkLst>
          <pc:docMk/>
          <pc:sldMk cId="777669950" sldId="265"/>
        </pc:sldMkLst>
        <pc:spChg chg="mod">
          <ac:chgData name="Jaswanth REDDY" userId="17ba503f79c0933a" providerId="LiveId" clId="{03842ED0-9CD0-4371-A8B7-EB5A6AB1BE9C}" dt="2026-09-15T04:05:39.489" v="1188" actId="20577"/>
          <ac:spMkLst>
            <pc:docMk/>
            <pc:sldMk cId="777669950" sldId="265"/>
            <ac:spMk id="10" creationId="{623AFECE-17F8-6EE6-B262-928DF88CAB6B}"/>
          </ac:spMkLst>
        </pc:spChg>
      </pc:sldChg>
      <pc:sldChg chg="addSp delSp modSp mod">
        <pc:chgData name="Jaswanth REDDY" userId="17ba503f79c0933a" providerId="LiveId" clId="{03842ED0-9CD0-4371-A8B7-EB5A6AB1BE9C}" dt="2026-09-15T04:07:02.363" v="1203" actId="20577"/>
        <pc:sldMkLst>
          <pc:docMk/>
          <pc:sldMk cId="2008767511" sldId="267"/>
        </pc:sldMkLst>
        <pc:graphicFrameChg chg="add mod modGraphic">
          <ac:chgData name="Jaswanth REDDY" userId="17ba503f79c0933a" providerId="LiveId" clId="{03842ED0-9CD0-4371-A8B7-EB5A6AB1BE9C}" dt="2026-09-15T04:07:02.363" v="1203" actId="20577"/>
          <ac:graphicFrameMkLst>
            <pc:docMk/>
            <pc:sldMk cId="2008767511" sldId="267"/>
            <ac:graphicFrameMk id="12" creationId="{57DE289B-3297-5B75-0B38-5EA39E51F4F2}"/>
          </ac:graphicFrameMkLst>
        </pc:graphicFrameChg>
      </pc:sldChg>
      <pc:sldChg chg="addSp delSp modSp mod">
        <pc:chgData name="Jaswanth REDDY" userId="17ba503f79c0933a" providerId="LiveId" clId="{03842ED0-9CD0-4371-A8B7-EB5A6AB1BE9C}" dt="2026-09-17T08:59:09.745" v="1310" actId="1076"/>
        <pc:sldMkLst>
          <pc:docMk/>
          <pc:sldMk cId="1111151792" sldId="268"/>
        </pc:sldMkLst>
        <pc:spChg chg="mod">
          <ac:chgData name="Jaswanth REDDY" userId="17ba503f79c0933a" providerId="LiveId" clId="{03842ED0-9CD0-4371-A8B7-EB5A6AB1BE9C}" dt="2026-09-17T08:58:33.824" v="1301" actId="1076"/>
          <ac:spMkLst>
            <pc:docMk/>
            <pc:sldMk cId="1111151792" sldId="268"/>
            <ac:spMk id="10" creationId="{048DC367-B948-DF77-AEE6-823D8EDFA119}"/>
          </ac:spMkLst>
        </pc:spChg>
        <pc:spChg chg="add mod">
          <ac:chgData name="Jaswanth REDDY" userId="17ba503f79c0933a" providerId="LiveId" clId="{03842ED0-9CD0-4371-A8B7-EB5A6AB1BE9C}" dt="2026-09-14T17:05:44.688" v="1072" actId="1076"/>
          <ac:spMkLst>
            <pc:docMk/>
            <pc:sldMk cId="1111151792" sldId="268"/>
            <ac:spMk id="15" creationId="{51C1C9B3-7FF7-0228-1B0B-3D4C115469C4}"/>
          </ac:spMkLst>
        </pc:spChg>
        <pc:spChg chg="add mod">
          <ac:chgData name="Jaswanth REDDY" userId="17ba503f79c0933a" providerId="LiveId" clId="{03842ED0-9CD0-4371-A8B7-EB5A6AB1BE9C}" dt="2026-09-17T08:58:12.442" v="1299" actId="1076"/>
          <ac:spMkLst>
            <pc:docMk/>
            <pc:sldMk cId="1111151792" sldId="268"/>
            <ac:spMk id="19" creationId="{4EBBB123-E7D7-A1CD-0CA5-F073DF4AF1CF}"/>
          </ac:spMkLst>
        </pc:spChg>
        <pc:grpChg chg="mod">
          <ac:chgData name="Jaswanth REDDY" userId="17ba503f79c0933a" providerId="LiveId" clId="{03842ED0-9CD0-4371-A8B7-EB5A6AB1BE9C}" dt="2026-09-14T17:05:18.692" v="1068" actId="1076"/>
          <ac:grpSpMkLst>
            <pc:docMk/>
            <pc:sldMk cId="1111151792" sldId="268"/>
            <ac:grpSpMk id="4" creationId="{CC05E09F-5662-CA32-3E8B-9CCAE121EA29}"/>
          </ac:grpSpMkLst>
        </pc:grpChg>
        <pc:picChg chg="add mod">
          <ac:chgData name="Jaswanth REDDY" userId="17ba503f79c0933a" providerId="LiveId" clId="{03842ED0-9CD0-4371-A8B7-EB5A6AB1BE9C}" dt="2026-09-17T08:58:04.600" v="1298" actId="1076"/>
          <ac:picMkLst>
            <pc:docMk/>
            <pc:sldMk cId="1111151792" sldId="268"/>
            <ac:picMk id="14" creationId="{24FE4876-44AC-A22A-4790-0BBBC82A4821}"/>
          </ac:picMkLst>
        </pc:picChg>
        <pc:picChg chg="add mod">
          <ac:chgData name="Jaswanth REDDY" userId="17ba503f79c0933a" providerId="LiveId" clId="{03842ED0-9CD0-4371-A8B7-EB5A6AB1BE9C}" dt="2026-09-17T08:59:09.745" v="1310" actId="1076"/>
          <ac:picMkLst>
            <pc:docMk/>
            <pc:sldMk cId="1111151792" sldId="268"/>
            <ac:picMk id="17" creationId="{7FC41841-7ED0-9454-6144-8D6A428F4837}"/>
          </ac:picMkLst>
        </pc:picChg>
      </pc:sldChg>
      <pc:sldChg chg="addSp delSp modSp mod">
        <pc:chgData name="Jaswanth REDDY" userId="17ba503f79c0933a" providerId="LiveId" clId="{03842ED0-9CD0-4371-A8B7-EB5A6AB1BE9C}" dt="2026-09-29T15:53:26.719" v="1318" actId="1076"/>
        <pc:sldMkLst>
          <pc:docMk/>
          <pc:sldMk cId="2437116908" sldId="269"/>
        </pc:sldMkLst>
        <pc:spChg chg="add del">
          <ac:chgData name="Jaswanth REDDY" userId="17ba503f79c0933a" providerId="LiveId" clId="{03842ED0-9CD0-4371-A8B7-EB5A6AB1BE9C}" dt="2026-09-29T15:53:16.691" v="1316" actId="22"/>
          <ac:spMkLst>
            <pc:docMk/>
            <pc:sldMk cId="2437116908" sldId="269"/>
            <ac:spMk id="12" creationId="{2E220691-F8A8-2B59-6353-33C08F9D0A43}"/>
          </ac:spMkLst>
        </pc:spChg>
        <pc:graphicFrameChg chg="add del mod modGraphic">
          <ac:chgData name="Jaswanth REDDY" userId="17ba503f79c0933a" providerId="LiveId" clId="{03842ED0-9CD0-4371-A8B7-EB5A6AB1BE9C}" dt="2026-09-29T15:53:09.602" v="1313" actId="478"/>
          <ac:graphicFrameMkLst>
            <pc:docMk/>
            <pc:sldMk cId="2437116908" sldId="269"/>
            <ac:graphicFrameMk id="11" creationId="{73A0582E-D4DB-0F25-4A9C-D0A245FE5BAD}"/>
          </ac:graphicFrameMkLst>
        </pc:graphicFrameChg>
        <pc:graphicFrameChg chg="add mod">
          <ac:chgData name="Jaswanth REDDY" userId="17ba503f79c0933a" providerId="LiveId" clId="{03842ED0-9CD0-4371-A8B7-EB5A6AB1BE9C}" dt="2026-09-29T15:53:26.719" v="1318" actId="1076"/>
          <ac:graphicFrameMkLst>
            <pc:docMk/>
            <pc:sldMk cId="2437116908" sldId="269"/>
            <ac:graphicFrameMk id="14" creationId="{443D0FFA-B9E4-4581-685F-72BEBB74E688}"/>
          </ac:graphicFrameMkLst>
        </pc:graphicFrameChg>
      </pc:sldChg>
      <pc:sldChg chg="modSp mod">
        <pc:chgData name="Jaswanth REDDY" userId="17ba503f79c0933a" providerId="LiveId" clId="{03842ED0-9CD0-4371-A8B7-EB5A6AB1BE9C}" dt="2026-09-14T17:17:27.878" v="1111" actId="14100"/>
        <pc:sldMkLst>
          <pc:docMk/>
          <pc:sldMk cId="1934370530" sldId="270"/>
        </pc:sldMkLst>
        <pc:spChg chg="mod">
          <ac:chgData name="Jaswanth REDDY" userId="17ba503f79c0933a" providerId="LiveId" clId="{03842ED0-9CD0-4371-A8B7-EB5A6AB1BE9C}" dt="2026-09-14T17:17:27.878" v="1111" actId="14100"/>
          <ac:spMkLst>
            <pc:docMk/>
            <pc:sldMk cId="1934370530" sldId="270"/>
            <ac:spMk id="10" creationId="{A2E40154-1F6D-A2EB-6CFB-70FA09016C04}"/>
          </ac:spMkLst>
        </pc:spChg>
      </pc:sldChg>
      <pc:sldChg chg="modSp mod">
        <pc:chgData name="Jaswanth REDDY" userId="17ba503f79c0933a" providerId="LiveId" clId="{03842ED0-9CD0-4371-A8B7-EB5A6AB1BE9C}" dt="2026-09-14T17:29:46.226" v="1183" actId="20577"/>
        <pc:sldMkLst>
          <pc:docMk/>
          <pc:sldMk cId="112646467" sldId="271"/>
        </pc:sldMkLst>
        <pc:spChg chg="mod">
          <ac:chgData name="Jaswanth REDDY" userId="17ba503f79c0933a" providerId="LiveId" clId="{03842ED0-9CD0-4371-A8B7-EB5A6AB1BE9C}" dt="2026-09-14T17:29:46.226" v="1183" actId="20577"/>
          <ac:spMkLst>
            <pc:docMk/>
            <pc:sldMk cId="112646467" sldId="271"/>
            <ac:spMk id="10" creationId="{12202649-73FC-25FA-7DFB-93766B2E4B2A}"/>
          </ac:spMkLst>
        </pc:spChg>
        <pc:grpChg chg="mod">
          <ac:chgData name="Jaswanth REDDY" userId="17ba503f79c0933a" providerId="LiveId" clId="{03842ED0-9CD0-4371-A8B7-EB5A6AB1BE9C}" dt="2026-09-14T17:18:54.406" v="1115" actId="1076"/>
          <ac:grpSpMkLst>
            <pc:docMk/>
            <pc:sldMk cId="112646467" sldId="271"/>
            <ac:grpSpMk id="4" creationId="{B272330F-2F23-CD3F-2CC0-B07BC57D1D95}"/>
          </ac:grpSpMkLst>
        </pc:grpChg>
      </pc:sldChg>
      <pc:sldChg chg="modSp mod">
        <pc:chgData name="Jaswanth REDDY" userId="17ba503f79c0933a" providerId="LiveId" clId="{03842ED0-9CD0-4371-A8B7-EB5A6AB1BE9C}" dt="2026-09-14T17:28:23.468" v="1173" actId="20577"/>
        <pc:sldMkLst>
          <pc:docMk/>
          <pc:sldMk cId="3084173466" sldId="272"/>
        </pc:sldMkLst>
        <pc:spChg chg="mod">
          <ac:chgData name="Jaswanth REDDY" userId="17ba503f79c0933a" providerId="LiveId" clId="{03842ED0-9CD0-4371-A8B7-EB5A6AB1BE9C}" dt="2026-09-14T17:28:23.468" v="1173" actId="20577"/>
          <ac:spMkLst>
            <pc:docMk/>
            <pc:sldMk cId="3084173466" sldId="272"/>
            <ac:spMk id="2" creationId="{FFFF21CA-D28C-6FE4-2382-93C3EC4AFF78}"/>
          </ac:spMkLst>
        </pc:spChg>
      </pc:sldChg>
      <pc:sldChg chg="modSp mod modAnim">
        <pc:chgData name="Jaswanth REDDY" userId="17ba503f79c0933a" providerId="LiveId" clId="{03842ED0-9CD0-4371-A8B7-EB5A6AB1BE9C}" dt="2026-09-14T17:31:17.894" v="1185"/>
        <pc:sldMkLst>
          <pc:docMk/>
          <pc:sldMk cId="1171693984" sldId="273"/>
        </pc:sldMkLst>
        <pc:spChg chg="mod">
          <ac:chgData name="Jaswanth REDDY" userId="17ba503f79c0933a" providerId="LiveId" clId="{03842ED0-9CD0-4371-A8B7-EB5A6AB1BE9C}" dt="2026-09-14T17:29:14.398" v="1175" actId="1076"/>
          <ac:spMkLst>
            <pc:docMk/>
            <pc:sldMk cId="1171693984" sldId="273"/>
            <ac:spMk id="2" creationId="{8BA08197-A9D8-B033-5ED3-89CF37A643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95D75-7E8B-43E8-B311-7A5D83A3947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40517-E511-4350-9B9E-F279F93A8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280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40517-E511-4350-9B9E-F279F93A844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44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51E1-5796-A6D9-7500-4219433F5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A8DDC-BE55-5AA9-946C-CC0C76D25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641C4-548D-F9B7-B3C5-6A5035C13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BC937-192E-9C52-E627-C77116AE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2AB50-44CD-5669-4009-A63B8FBA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795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FEF40-54E3-0F9B-EE54-93398354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741F-5F61-2DF4-EA6F-CE36F9E03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914D8-BEC5-DEDF-B473-C2E5ED36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36F1E-FC43-A367-B9EA-806B2FD2A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FC02E-60AF-AAA6-6F4D-D449D7B4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34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4EF4-BA9E-D5EF-FBAC-FF43DCAC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C3E46-850C-008B-0720-F1B216BFD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E3CDA-D068-ED69-9DD2-B0695FBE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E1C45-3B59-6BA7-9396-4495E46C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60E85-FF1E-E63B-6267-A56D8C05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843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AF75-57FC-2433-578D-1B0F0BA7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28E16-C287-9D93-F077-A69F90386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36EF2-20AE-8366-0E37-137669FD2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A2E34-9F25-CA0D-CC04-1A1AB8F6D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A26DE-462C-2FD7-64F6-81396733A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11606-96C3-2724-5998-CF906793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23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1B56-7DE5-FF38-F95E-832284AC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1E9AF-983B-8429-D67F-00869524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12A2A-F462-7169-9E37-4DA07EAB8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E74EE-F51E-5101-51F3-BBE9F70A6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F96A80-4325-13A0-F683-99288275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3BC53-DA85-14E2-C099-C920703E7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E334E-F794-2B7D-F772-AD92A3CD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B8F6A-1DCE-6952-AC58-7CFB7CA9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80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612E-89AF-8F61-997A-41ACF06C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1BB07-6A03-B684-524A-52816B491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4F0872-AEC8-0DCA-8F5D-E1789179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B14D6-FA43-4F05-8877-092A3691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31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994E14-FA36-7F91-7287-CFFDD115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406DB-2565-446E-6520-FFDB10C7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8DCC6-1520-E546-6E0E-3332ED5C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246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AD05-60D0-E9E9-1F3B-F309DE0F2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DED7-9664-BCCE-4A96-14D614466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928FF-D6F1-6675-EE03-19B76E25D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21ABB-1DB0-CB20-17C2-F4E453B6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4E5A-7554-52CC-A102-2282081F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8A601-8996-1688-2CEC-B2CC1B12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35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34BF-336D-28F8-18BB-9DC8051E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BD643-93A1-D27F-77B3-C63E225D8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EE79F-51F6-9765-707E-A700A4712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563F0-5D05-DAE7-2959-B2ECF496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00C3B-E260-9894-86A5-0598C31E8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7F7FF-C652-BB46-9DCD-E05E08263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50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D34F-200E-B8F6-A7E2-2AAF5BCFE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E308D-0FB0-3E6D-6180-B7B463091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0EE7D-DFE5-E0A8-8F1F-4196CE7C7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73CB4-9D17-B8D7-5EB3-C538ACF6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37D54-9E72-517C-12CC-FFE496CC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45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97A14-DC5D-97FE-B03A-C0B89B648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A399A-87AD-8857-4869-74F72D43C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D3D97-A176-23C5-24EC-73B300E2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0A401-A54E-4C79-A3FD-9BB6E67C9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C3F94-4632-A859-AA27-44105B8E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44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035DC2-9EF8-138A-D2CA-52710CE35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ADCC8-AE62-3394-E6B3-275F293FA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CA6F2-825B-1E83-107C-887DADB30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9DBED-0B70-43F2-AD1E-93F433D80476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30E60-9270-6C7C-BC70-8C50B18C8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74AD4-5D0A-605D-3BD7-B433204D1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8DF96-AC1E-44B6-9C24-2754090408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8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drive.google.com/file/d/15XJlp0nejh9v8Jo35d0gioOxVnQ4OFUm/view?usp=drive_link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drive.google.com/file/d/17HCuvuIH6miqKJsp6p8C36sk5Z_mfD63/view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gopipeddinti1986-oss/Bank-Account-Management-System-DBMS.git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5265" y="316106"/>
            <a:ext cx="4610910" cy="628649"/>
          </a:xfrm>
          <a:prstGeom prst="rect">
            <a:avLst/>
          </a:prstGeom>
        </p:spPr>
      </p:pic>
      <p:sp>
        <p:nvSpPr>
          <p:cNvPr id="5" name="object 3"/>
          <p:cNvSpPr txBox="1">
            <a:spLocks/>
          </p:cNvSpPr>
          <p:nvPr/>
        </p:nvSpPr>
        <p:spPr>
          <a:xfrm>
            <a:off x="2236920" y="1261687"/>
            <a:ext cx="7467599" cy="1053173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</a:p>
        </p:txBody>
      </p:sp>
      <p:sp>
        <p:nvSpPr>
          <p:cNvPr id="6" name="object 4"/>
          <p:cNvSpPr txBox="1">
            <a:spLocks/>
          </p:cNvSpPr>
          <p:nvPr/>
        </p:nvSpPr>
        <p:spPr>
          <a:xfrm>
            <a:off x="1624790" y="2619660"/>
            <a:ext cx="8751412" cy="447071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0"/>
              </a:spcBef>
            </a:pPr>
            <a:r>
              <a:rPr lang="en-IN" dirty="0"/>
              <a:t>Bank Account Management System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lang="en-IN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 </a:t>
            </a: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Phaneshwar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Raja- (25B11AI182)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Ch Charan Teja Reddy - (25B11AI223)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G Jaswanth Reddy - (25B11AI333)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Gopi - (25B11AI924) 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lang="en-IN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>
              <a:lnSpc>
                <a:spcPct val="100000"/>
              </a:lnSpc>
              <a:spcBef>
                <a:spcPts val="750"/>
              </a:spcBef>
            </a:pPr>
            <a:endParaRPr lang="en-IN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>
              <a:lnSpc>
                <a:spcPct val="100000"/>
              </a:lnSpc>
              <a:spcBef>
                <a:spcPts val="994"/>
              </a:spcBef>
            </a:pPr>
            <a:r>
              <a:rPr lang="en-IN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IN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Artificial Intelligence &amp; Machine Learning</a:t>
            </a:r>
            <a:endParaRPr lang="en-IN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>
              <a:lnSpc>
                <a:spcPct val="100000"/>
              </a:lnSpc>
              <a:spcBef>
                <a:spcPts val="994"/>
              </a:spcBef>
            </a:pPr>
            <a:endParaRPr lang="en-IN" sz="18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92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582" y="279987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47537" y="1464223"/>
            <a:ext cx="4100000" cy="497956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47537" y="1464223"/>
            <a:ext cx="4100000" cy="3786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 startAt="10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 startAt="10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 startAt="10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 startAt="10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 startAt="10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 startAt="10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3780537" y="8491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4952080" y="25242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  <p:extLst>
      <p:ext uri="{BB962C8B-B14F-4D97-AF65-F5344CB8AC3E}">
        <p14:creationId xmlns:p14="http://schemas.microsoft.com/office/powerpoint/2010/main" val="2619643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0AD3-32B3-FA7A-070C-54900D272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3880932" y="37343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550690" y="648950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ABSTRACT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3488" y="605292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9854BB-1B5D-0E6B-36E3-253ADCD18991}"/>
              </a:ext>
            </a:extLst>
          </p:cNvPr>
          <p:cNvSpPr txBox="1"/>
          <p:nvPr/>
        </p:nvSpPr>
        <p:spPr>
          <a:xfrm>
            <a:off x="1426490" y="1544299"/>
            <a:ext cx="93726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Abstract :</a:t>
            </a:r>
          </a:p>
          <a:p>
            <a:pPr>
              <a:buNone/>
            </a:pPr>
            <a:r>
              <a:rPr lang="en-IN" sz="2000" b="1" dirty="0"/>
              <a:t>  </a:t>
            </a:r>
          </a:p>
          <a:p>
            <a:r>
              <a:rPr lang="en-IN" sz="2000" dirty="0"/>
              <a:t>The </a:t>
            </a:r>
            <a:r>
              <a:rPr lang="en-IN" sz="2000" b="1" dirty="0"/>
              <a:t>Bank Account Management System</a:t>
            </a:r>
            <a:r>
              <a:rPr lang="en-IN" sz="2000" dirty="0"/>
              <a:t> is a relational database project designed to manage core banking operations across multiple branches.</a:t>
            </a:r>
          </a:p>
          <a:p>
            <a:endParaRPr lang="en-IN" sz="2000" dirty="0"/>
          </a:p>
          <a:p>
            <a:r>
              <a:rPr lang="en-IN" sz="2000" dirty="0"/>
              <a:t>The system consists of six main entities: </a:t>
            </a:r>
            <a:r>
              <a:rPr lang="en-IN" sz="2000" b="1" dirty="0"/>
              <a:t>Branch, Customer, Employee, Account, </a:t>
            </a:r>
            <a:r>
              <a:rPr lang="en-IN" sz="2000" b="1" dirty="0" err="1"/>
              <a:t>TransactionRecord</a:t>
            </a:r>
            <a:r>
              <a:rPr lang="en-IN" sz="2000" b="1" dirty="0"/>
              <a:t>, and Loan</a:t>
            </a:r>
            <a:r>
              <a:rPr lang="en-IN" sz="2000" dirty="0"/>
              <a:t>, connected through foreign-key relationships to maintain data integrity.</a:t>
            </a:r>
          </a:p>
          <a:p>
            <a:endParaRPr lang="en-IN" sz="2000" dirty="0"/>
          </a:p>
          <a:p>
            <a:r>
              <a:rPr lang="en-IN" sz="2000" dirty="0"/>
              <a:t>Built using </a:t>
            </a:r>
            <a:r>
              <a:rPr lang="en-IN" sz="2000" b="1" dirty="0"/>
              <a:t>SQL</a:t>
            </a:r>
            <a:r>
              <a:rPr lang="en-IN" sz="2000" dirty="0"/>
              <a:t> and normalized up to </a:t>
            </a:r>
            <a:r>
              <a:rPr lang="en-IN" sz="2000" b="1" dirty="0"/>
              <a:t>Third Normal Form (3NF)</a:t>
            </a:r>
            <a:r>
              <a:rPr lang="en-IN" sz="2000" dirty="0"/>
              <a:t>, the system uses </a:t>
            </a:r>
            <a:r>
              <a:rPr lang="en-IN" sz="2000" b="1" dirty="0"/>
              <a:t>NOT NULL, UNIQUE, and CHECK constraints</a:t>
            </a:r>
            <a:r>
              <a:rPr lang="en-IN" sz="2000" dirty="0"/>
              <a:t> to maintain accurate and valid data.</a:t>
            </a:r>
          </a:p>
          <a:p>
            <a:endParaRPr lang="en-IN" sz="2000" dirty="0"/>
          </a:p>
          <a:p>
            <a:r>
              <a:rPr lang="en-IN" sz="2000" dirty="0"/>
              <a:t>The system supports customer management, savings/current/fixed-deposit accounts, deposits, withdrawals, transaction recording, and loan tracking. SQL queries demonstrate </a:t>
            </a:r>
            <a:r>
              <a:rPr lang="en-IN" sz="2000" b="1" dirty="0"/>
              <a:t>joins, aggregate functions, GROUP BY/HAVING, subqueries, and reporting operations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4036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4E8E2-9FC1-66CA-D1FD-DDB5D7DD5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14A7F8A6-BC75-2C30-6F74-66BD0608460D}"/>
              </a:ext>
            </a:extLst>
          </p:cNvPr>
          <p:cNvGrpSpPr/>
          <p:nvPr/>
        </p:nvGrpSpPr>
        <p:grpSpPr>
          <a:xfrm>
            <a:off x="3768638" y="53147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A3A7B2A2-7BCE-7509-45B5-4C2C7D9A8E1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EBF1606-6846-F344-181F-9444AF3C4D3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725F4B3-8F59-6F3A-E2D3-6AF4EE44E9F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C3B38DF-DE6E-A2D4-A499-A7E5562E7D0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515A8DA-BF27-7006-9F0A-64EA00742917}"/>
              </a:ext>
            </a:extLst>
          </p:cNvPr>
          <p:cNvSpPr txBox="1"/>
          <p:nvPr/>
        </p:nvSpPr>
        <p:spPr>
          <a:xfrm>
            <a:off x="5072632" y="259887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541CCAA7-FC84-40C5-88AE-D2AFD8506DD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314" y="362964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1DBE56-6236-3F90-E145-023903FB6707}"/>
              </a:ext>
            </a:extLst>
          </p:cNvPr>
          <p:cNvSpPr txBox="1"/>
          <p:nvPr/>
        </p:nvSpPr>
        <p:spPr>
          <a:xfrm>
            <a:off x="1128588" y="819751"/>
            <a:ext cx="10716126" cy="6295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Account Management System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700"/>
              </a:spcBef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0"/>
            <a:r>
              <a:rPr lang="en-IN" dirty="0"/>
              <a:t>Objective 1: Design a relational schema containing six related banking entities.</a:t>
            </a:r>
          </a:p>
          <a:p>
            <a:pPr lvl="0"/>
            <a:r>
              <a:rPr lang="en-IN" dirty="0"/>
              <a:t>Objective 2: Implement primary keys, foreign keys, NOT NULL, UNIQUE, CHECK, and DEFAULT constraints for data integrity.</a:t>
            </a:r>
          </a:p>
          <a:p>
            <a:pPr lvl="0"/>
            <a:r>
              <a:rPr lang="en-IN" dirty="0"/>
              <a:t>Objective 3: Populate the database with representative branch, customer, employee, account, loan, and transaction records.</a:t>
            </a:r>
          </a:p>
          <a:p>
            <a:pPr lvl="0"/>
            <a:r>
              <a:rPr lang="en-IN" dirty="0"/>
              <a:t>Objective 4: Demonstrate SQL retrieval, updates, joins, aggregate functions, GROUP BY/HAVING, and subqueries.</a:t>
            </a:r>
          </a:p>
          <a:p>
            <a:pPr lvl="0"/>
            <a:r>
              <a:rPr lang="en-IN" dirty="0"/>
              <a:t>Objective 5: Document the database design, implementation, sample data, queries, and team responsibilities</a:t>
            </a:r>
          </a:p>
          <a:p>
            <a:pPr>
              <a:spcBef>
                <a:spcPts val="700"/>
              </a:spcBef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r>
              <a:rPr lang="en-IN" sz="2000" dirty="0"/>
              <a:t>Traditional branch-wise record keeping can lead to </a:t>
            </a:r>
            <a:r>
              <a:rPr lang="en-IN" sz="2000" b="1" dirty="0"/>
              <a:t>duplicate customer information, inconsistent records and difficulty in tracking transactions</a:t>
            </a:r>
            <a:r>
              <a:rPr lang="en-IN" sz="2000" dirty="0"/>
              <a:t>.</a:t>
            </a:r>
          </a:p>
          <a:p>
            <a:endParaRPr lang="en-IN" sz="800" dirty="0"/>
          </a:p>
          <a:p>
            <a:r>
              <a:rPr lang="en-IN" sz="2000" dirty="0"/>
              <a:t>The proposed system centralizes branch, customer, employee, account, loan and transaction information into a </a:t>
            </a:r>
            <a:r>
              <a:rPr lang="en-IN" sz="2000" b="1" dirty="0"/>
              <a:t>single relational database</a:t>
            </a:r>
            <a:r>
              <a:rPr lang="en-IN" sz="2000" dirty="0"/>
              <a:t>.</a:t>
            </a:r>
          </a:p>
          <a:p>
            <a:endParaRPr lang="en-IN" sz="800" dirty="0"/>
          </a:p>
          <a:p>
            <a:r>
              <a:rPr lang="en-IN" sz="2000" dirty="0"/>
              <a:t>The system provides structured data management, referential integrity, validation and SQL-based reporting for efficient banking operations.</a:t>
            </a:r>
          </a:p>
        </p:txBody>
      </p:sp>
    </p:spTree>
    <p:extLst>
      <p:ext uri="{BB962C8B-B14F-4D97-AF65-F5344CB8AC3E}">
        <p14:creationId xmlns:p14="http://schemas.microsoft.com/office/powerpoint/2010/main" val="413254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32147-8D4B-8CB0-54DE-89C53A58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BDF803-F981-46CC-CC46-D111A2577900}"/>
              </a:ext>
            </a:extLst>
          </p:cNvPr>
          <p:cNvSpPr txBox="1"/>
          <p:nvPr/>
        </p:nvSpPr>
        <p:spPr>
          <a:xfrm>
            <a:off x="5599489" y="23631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E3760E7-6F28-A846-0965-4B0DB0DB84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972" y="354597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14A9732B-F2FA-7AC9-F8F2-D6CE6CFE12D9}"/>
              </a:ext>
            </a:extLst>
          </p:cNvPr>
          <p:cNvGrpSpPr/>
          <p:nvPr/>
        </p:nvGrpSpPr>
        <p:grpSpPr>
          <a:xfrm>
            <a:off x="3854116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FD790607-0591-D2EB-2CB7-13EC07226E8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DAF3BB54-5531-3CA8-C2E3-E44F0C0CF75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0E7DF15-4069-3208-C04B-D538C5B7FCF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6153560-3DD7-7763-C056-685632D1960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86362F5-2001-2FF2-5840-59D15EA684B5}"/>
              </a:ext>
            </a:extLst>
          </p:cNvPr>
          <p:cNvSpPr txBox="1"/>
          <p:nvPr/>
        </p:nvSpPr>
        <p:spPr>
          <a:xfrm>
            <a:off x="4764155" y="23631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51C2E1A-0755-CE58-53FC-66A32F5D8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09861"/>
              </p:ext>
            </p:extLst>
          </p:nvPr>
        </p:nvGraphicFramePr>
        <p:xfrm>
          <a:off x="256674" y="1716504"/>
          <a:ext cx="11678652" cy="4443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6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675">
                <a:tc>
                  <a:txBody>
                    <a:bodyPr/>
                    <a:lstStyle/>
                    <a:p>
                      <a:pPr algn="l"/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45720" marR="45720" marT="18288" marB="18288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</a:rPr>
                        <a:t>Key Attributes</a:t>
                      </a:r>
                    </a:p>
                  </a:txBody>
                  <a:tcPr marL="45720" marR="45720" marT="18288" marB="18288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675"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BranchID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(PK),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Branc</a:t>
                      </a:r>
                      <a:r>
                        <a:rPr lang="en-US"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h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Name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IFSCCode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City,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State,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ManagerName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CreatedAt</a:t>
                      </a:r>
                      <a:endParaRPr sz="180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659"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CustomerID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(PK),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First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Name,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MiddleName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, LastName,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DOB,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Gender,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AadhaarNo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PANNo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Email, Phone,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Address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CreditedAt</a:t>
                      </a:r>
                      <a:endParaRPr sz="180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675"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EmployeeID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(PK),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BranchID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(FK),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FirstName, </a:t>
                      </a:r>
                      <a:r>
                        <a:rPr lang="en-US"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MiddleName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, Last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Name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, Designation, Qualifications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Phone, Email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 Salary,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HireDate</a:t>
                      </a:r>
                      <a:endParaRPr sz="180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659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02020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AccountNumber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(PK),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CustomerID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(FK),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BranchID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(FK),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AccountType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 Balance,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OpenDate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1659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02020"/>
                          </a:solidFill>
                          <a:latin typeface="Calibri"/>
                        </a:rPr>
                        <a:t>TransactionRecord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TransactionID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(PK),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AccountNumber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(FK),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TransactionType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Amount,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Mode,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TransactionDate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, Description</a:t>
                      </a:r>
                      <a:endParaRPr sz="180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1659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02020"/>
                          </a:solidFill>
                          <a:latin typeface="Calibri"/>
                        </a:rPr>
                        <a:t>Loan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LoanID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(PK),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CustomerID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(FK),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BranchID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 (FK),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LoanType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LoanAmount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PrincipalAmount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InterestRate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StartDate, </a:t>
                      </a:r>
                      <a:r>
                        <a:rPr lang="en-US"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DurationMonths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 , </a:t>
                      </a:r>
                      <a:r>
                        <a:rPr lang="en-US"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EmiAmount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02020"/>
                          </a:solidFill>
                          <a:latin typeface="Calibri"/>
                        </a:rPr>
                        <a:t>SanctionDate</a:t>
                      </a:r>
                      <a:r>
                        <a:rPr lang="en-US" sz="180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sz="1800" dirty="0">
                          <a:solidFill>
                            <a:srgbClr val="202020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97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2A58-8980-18AE-E42F-A815833B7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1A291F-56DE-55C6-10CC-E7AB255E284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418AFF1-B7B8-3AB3-589B-F1F0832DC3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8C895273-687B-5ED9-F560-BFF5268C7183}"/>
              </a:ext>
            </a:extLst>
          </p:cNvPr>
          <p:cNvGrpSpPr/>
          <p:nvPr/>
        </p:nvGrpSpPr>
        <p:grpSpPr>
          <a:xfrm>
            <a:off x="3902242" y="10805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B0FBCDBF-FA6E-C1E2-056E-1CA8DCBDB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CE643EB-F801-6123-9DCB-743F5D9D5A5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D4E7BF4-B5FC-D8D9-7941-0969523DBFC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FC4502E-F34E-D602-4BD5-DBA4942DE6F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6D9087-D0A5-95C1-9371-96FC78CEF776}"/>
              </a:ext>
            </a:extLst>
          </p:cNvPr>
          <p:cNvSpPr txBox="1"/>
          <p:nvPr/>
        </p:nvSpPr>
        <p:spPr>
          <a:xfrm>
            <a:off x="5426242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E8471B-3C70-ECED-9AA9-7618AA078C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332" y="927004"/>
            <a:ext cx="9851336" cy="52543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E0DA6B-5B6B-25EB-7A09-7B09EBF05CB4}"/>
              </a:ext>
            </a:extLst>
          </p:cNvPr>
          <p:cNvSpPr txBox="1"/>
          <p:nvPr/>
        </p:nvSpPr>
        <p:spPr>
          <a:xfrm>
            <a:off x="1874520" y="6295032"/>
            <a:ext cx="9349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7"/>
              </a:rPr>
              <a:t>https://drive.google.com/file/d/15XJlp0nejh9v8Jo35d0gioOxVnQ4OFUm/view?usp=drive_link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564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24FD2-FF57-65C1-1C8A-AF66136F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E857B0-A0D8-C32D-AA3A-3C500B294195}"/>
              </a:ext>
            </a:extLst>
          </p:cNvPr>
          <p:cNvSpPr txBox="1"/>
          <p:nvPr/>
        </p:nvSpPr>
        <p:spPr>
          <a:xfrm>
            <a:off x="5583447" y="21276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81C6165-464C-BF5C-541C-31E9029AC9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351" y="271075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BF40A4CC-2B71-30F9-AE41-8A0FBD56195E}"/>
              </a:ext>
            </a:extLst>
          </p:cNvPr>
          <p:cNvGrpSpPr/>
          <p:nvPr/>
        </p:nvGrpSpPr>
        <p:grpSpPr>
          <a:xfrm>
            <a:off x="3838074" y="-2355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169FEF9E-66FB-C7B8-A9F8-48B4901A746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2FAB64C-E7AD-8CA3-6E9A-309AE054F9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3B886FC1-EAE6-6A4C-4208-61B4838C101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A5DE8629-8556-AED2-186D-C6E6D35C4B4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06AB34A-F35B-A152-041F-228018A07795}"/>
              </a:ext>
            </a:extLst>
          </p:cNvPr>
          <p:cNvSpPr txBox="1"/>
          <p:nvPr/>
        </p:nvSpPr>
        <p:spPr>
          <a:xfrm>
            <a:off x="4066674" y="196239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F5F879-2061-9531-B130-70F37F4AA7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" y="858002"/>
            <a:ext cx="10856132" cy="5141995"/>
          </a:xfrm>
          <a:prstGeom prst="rect">
            <a:avLst/>
          </a:prstGeom>
        </p:spPr>
      </p:pic>
      <p:sp>
        <p:nvSpPr>
          <p:cNvPr id="13" name="TextBox 12">
            <a:hlinkClick r:id="rId7"/>
            <a:extLst>
              <a:ext uri="{FF2B5EF4-FFF2-40B4-BE49-F238E27FC236}">
                <a16:creationId xmlns:a16="http://schemas.microsoft.com/office/drawing/2014/main" id="{BB3738FC-A5ED-02E7-2F11-DCDEC28D9C8E}"/>
              </a:ext>
            </a:extLst>
          </p:cNvPr>
          <p:cNvSpPr txBox="1"/>
          <p:nvPr/>
        </p:nvSpPr>
        <p:spPr>
          <a:xfrm>
            <a:off x="1460885" y="6252821"/>
            <a:ext cx="9270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7"/>
              </a:rPr>
              <a:t>https://drive.google.com/file/d/17HCuvuIH6miqKJsp6p8C36sk5Z_mfD63/view?usp=sharing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409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A5530-ED9A-F37C-BA94-9EFC24362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4A0454-27B6-66F8-416B-F916AE03D666}"/>
              </a:ext>
            </a:extLst>
          </p:cNvPr>
          <p:cNvSpPr txBox="1"/>
          <p:nvPr/>
        </p:nvSpPr>
        <p:spPr>
          <a:xfrm>
            <a:off x="5423025" y="46971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CFDDA10-9AFD-B0EC-3C95-7FA3893E8C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773" y="394489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6F7CB3BF-1FEF-856F-3C84-E8716C0BC245}"/>
              </a:ext>
            </a:extLst>
          </p:cNvPr>
          <p:cNvGrpSpPr/>
          <p:nvPr/>
        </p:nvGrpSpPr>
        <p:grpSpPr>
          <a:xfrm>
            <a:off x="3677652" y="233397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B2B1D30D-D670-881A-1AFD-31B35E55242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89ED138-CE6C-1811-D5CC-093A4BA04DF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7371C6C-C223-3D37-3A81-63B1B58C4E4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0EA278B-DC4F-9602-DE1F-AC569CDF025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78A51C3-8C23-09B0-AC83-955BD2AD332B}"/>
              </a:ext>
            </a:extLst>
          </p:cNvPr>
          <p:cNvSpPr txBox="1"/>
          <p:nvPr/>
        </p:nvSpPr>
        <p:spPr>
          <a:xfrm>
            <a:off x="4439652" y="469713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E14D1-BF5C-C189-3AF8-3D5F38CAABFB}"/>
              </a:ext>
            </a:extLst>
          </p:cNvPr>
          <p:cNvSpPr txBox="1"/>
          <p:nvPr/>
        </p:nvSpPr>
        <p:spPr>
          <a:xfrm>
            <a:off x="5423025" y="46971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grpSp>
        <p:nvGrpSpPr>
          <p:cNvPr id="12" name="object 3">
            <a:extLst>
              <a:ext uri="{FF2B5EF4-FFF2-40B4-BE49-F238E27FC236}">
                <a16:creationId xmlns:a16="http://schemas.microsoft.com/office/drawing/2014/main" id="{7DB5F7E3-3789-CD03-6CE4-DA2A427F43BE}"/>
              </a:ext>
            </a:extLst>
          </p:cNvPr>
          <p:cNvGrpSpPr/>
          <p:nvPr/>
        </p:nvGrpSpPr>
        <p:grpSpPr>
          <a:xfrm>
            <a:off x="3677652" y="233397"/>
            <a:ext cx="5103904" cy="1198311"/>
            <a:chOff x="2648188" y="47148"/>
            <a:chExt cx="5103904" cy="1198311"/>
          </a:xfrm>
        </p:grpSpPr>
        <p:pic>
          <p:nvPicPr>
            <p:cNvPr id="13" name="object 4">
              <a:extLst>
                <a:ext uri="{FF2B5EF4-FFF2-40B4-BE49-F238E27FC236}">
                  <a16:creationId xmlns:a16="http://schemas.microsoft.com/office/drawing/2014/main" id="{BBD1D6BF-DC88-FEB4-C088-D563BBB80DC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4" name="object 5">
              <a:extLst>
                <a:ext uri="{FF2B5EF4-FFF2-40B4-BE49-F238E27FC236}">
                  <a16:creationId xmlns:a16="http://schemas.microsoft.com/office/drawing/2014/main" id="{1E72DCF7-0ED7-A64E-6C92-7CBE053D2B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AB44AAA2-99DC-CE31-C416-48D1228D246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BB000E4F-8C1A-1616-C476-9F3EE54E54E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B434048-B0D1-6440-1C99-582F03742A9B}"/>
              </a:ext>
            </a:extLst>
          </p:cNvPr>
          <p:cNvSpPr txBox="1"/>
          <p:nvPr/>
        </p:nvSpPr>
        <p:spPr>
          <a:xfrm>
            <a:off x="4439652" y="469713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28A7E7C-B467-20A6-272D-047EA4CE2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124315"/>
              </p:ext>
            </p:extLst>
          </p:nvPr>
        </p:nvGraphicFramePr>
        <p:xfrm>
          <a:off x="352927" y="1668025"/>
          <a:ext cx="11293642" cy="4427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567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45720" marR="45720" marT="18288" marB="18288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Primary Key</a:t>
                      </a:r>
                    </a:p>
                  </a:txBody>
                  <a:tcPr marL="45720" marR="45720" marT="18288" marB="18288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Foreign Key(s)</a:t>
                      </a:r>
                    </a:p>
                  </a:txBody>
                  <a:tcPr marL="45720" marR="45720" marT="18288" marB="18288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567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02020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02020"/>
                          </a:solidFill>
                          <a:latin typeface="Calibri"/>
                        </a:rPr>
                        <a:t>BranchID</a:t>
                      </a:r>
                      <a:endParaRPr sz="200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567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02020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02020"/>
                          </a:solidFill>
                          <a:latin typeface="Calibri"/>
                        </a:rPr>
                        <a:t>CustomerID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567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02020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02020"/>
                          </a:solidFill>
                          <a:latin typeface="Calibri"/>
                        </a:rPr>
                        <a:t>EmployeeID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02020"/>
                          </a:solidFill>
                          <a:latin typeface="Calibri"/>
                        </a:rPr>
                        <a:t>BranchID</a:t>
                      </a:r>
                      <a:r>
                        <a:rPr sz="2000" dirty="0">
                          <a:solidFill>
                            <a:srgbClr val="202020"/>
                          </a:solidFill>
                          <a:latin typeface="Calibri"/>
                        </a:rPr>
                        <a:t> → Branch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567"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202020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02020"/>
                          </a:solidFill>
                          <a:latin typeface="Calibri"/>
                        </a:rPr>
                        <a:t>AccountNumber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02020"/>
                          </a:solidFill>
                          <a:latin typeface="Calibri"/>
                        </a:rPr>
                        <a:t>CustomerID</a:t>
                      </a:r>
                      <a:r>
                        <a:rPr sz="2000" dirty="0">
                          <a:solidFill>
                            <a:srgbClr val="202020"/>
                          </a:solidFill>
                          <a:latin typeface="Calibri"/>
                        </a:rPr>
                        <a:t> → Customer, </a:t>
                      </a:r>
                      <a:r>
                        <a:rPr lang="en-US" sz="20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202020"/>
                          </a:solidFill>
                          <a:latin typeface="Calibri"/>
                        </a:rPr>
                        <a:t>BranchID</a:t>
                      </a:r>
                      <a:r>
                        <a:rPr sz="2000" dirty="0">
                          <a:solidFill>
                            <a:srgbClr val="202020"/>
                          </a:solidFill>
                          <a:latin typeface="Calibri"/>
                        </a:rPr>
                        <a:t> → Branch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567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02020"/>
                          </a:solidFill>
                          <a:latin typeface="Calibri"/>
                        </a:rPr>
                        <a:t>TransactionRecord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02020"/>
                          </a:solidFill>
                          <a:latin typeface="Calibri"/>
                        </a:rPr>
                        <a:t>TransactionID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02020"/>
                          </a:solidFill>
                          <a:latin typeface="Calibri"/>
                        </a:rPr>
                        <a:t>AccountNumber</a:t>
                      </a:r>
                      <a:r>
                        <a:rPr sz="2000" dirty="0">
                          <a:solidFill>
                            <a:srgbClr val="202020"/>
                          </a:solidFill>
                          <a:latin typeface="Calibri"/>
                        </a:rPr>
                        <a:t> → Account</a:t>
                      </a:r>
                    </a:p>
                  </a:txBody>
                  <a:tcPr marL="45720" marR="45720" marT="18288" marB="18288">
                    <a:solidFill>
                      <a:srgbClr val="FB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2575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02020"/>
                          </a:solidFill>
                          <a:latin typeface="Calibri"/>
                        </a:rPr>
                        <a:t>Loan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202020"/>
                          </a:solidFill>
                          <a:latin typeface="Calibri"/>
                        </a:rPr>
                        <a:t>LoanID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 err="1">
                          <a:solidFill>
                            <a:srgbClr val="202020"/>
                          </a:solidFill>
                          <a:latin typeface="Calibri"/>
                        </a:rPr>
                        <a:t>CustomerID</a:t>
                      </a:r>
                      <a:r>
                        <a:rPr sz="2000" dirty="0">
                          <a:solidFill>
                            <a:srgbClr val="202020"/>
                          </a:solidFill>
                          <a:latin typeface="Calibri"/>
                        </a:rPr>
                        <a:t> → Customer,</a:t>
                      </a:r>
                      <a:r>
                        <a:rPr lang="en-US" sz="20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200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2000" dirty="0" err="1">
                          <a:solidFill>
                            <a:srgbClr val="202020"/>
                          </a:solidFill>
                          <a:latin typeface="Calibri"/>
                        </a:rPr>
                        <a:t>BranchID</a:t>
                      </a:r>
                      <a:r>
                        <a:rPr sz="2000" dirty="0">
                          <a:solidFill>
                            <a:srgbClr val="202020"/>
                          </a:solidFill>
                          <a:latin typeface="Calibri"/>
                        </a:rPr>
                        <a:t> → Branch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459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BFA49-2590-D2DD-D6ED-3600C0002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B67A4D-07FB-8234-A8D3-C8BAED07E45C}"/>
              </a:ext>
            </a:extLst>
          </p:cNvPr>
          <p:cNvSpPr txBox="1"/>
          <p:nvPr/>
        </p:nvSpPr>
        <p:spPr>
          <a:xfrm>
            <a:off x="5599488" y="497787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14670E0-A5E2-8327-ABC7-582D8EBC08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310" y="556099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C4A41232-BC6A-FEA6-77E7-54718C326855}"/>
              </a:ext>
            </a:extLst>
          </p:cNvPr>
          <p:cNvGrpSpPr/>
          <p:nvPr/>
        </p:nvGrpSpPr>
        <p:grpSpPr>
          <a:xfrm>
            <a:off x="3854115" y="261471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50B18C4-46C3-810F-61B5-48A5C28CA14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34207D64-5489-D269-2CD0-74BEFBB4288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AF894DF5-78E4-BF1F-15CA-6B418C3338A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8522D7B-0E67-B81F-62D1-73003C685EE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3A4B66-0583-7089-702A-55EAC15A5DCC}"/>
              </a:ext>
            </a:extLst>
          </p:cNvPr>
          <p:cNvSpPr txBox="1"/>
          <p:nvPr/>
        </p:nvSpPr>
        <p:spPr>
          <a:xfrm>
            <a:off x="4387515" y="497787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5D5643-D008-58C7-4B65-0FB699EF962E}"/>
              </a:ext>
            </a:extLst>
          </p:cNvPr>
          <p:cNvSpPr txBox="1"/>
          <p:nvPr/>
        </p:nvSpPr>
        <p:spPr>
          <a:xfrm>
            <a:off x="559308" y="5938463"/>
            <a:ext cx="11073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https://github.com/gopipeddinti1986-oss/Bank-Account-Management-System-DBMS.git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B47E83-B352-D872-6232-31D51929E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87388"/>
              </p:ext>
            </p:extLst>
          </p:nvPr>
        </p:nvGraphicFramePr>
        <p:xfrm>
          <a:off x="1143000" y="1499072"/>
          <a:ext cx="10323577" cy="427993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39512">
                  <a:extLst>
                    <a:ext uri="{9D8B030D-6E8A-4147-A177-3AD203B41FA5}">
                      <a16:colId xmlns:a16="http://schemas.microsoft.com/office/drawing/2014/main" val="722908093"/>
                    </a:ext>
                  </a:extLst>
                </a:gridCol>
                <a:gridCol w="2654634">
                  <a:extLst>
                    <a:ext uri="{9D8B030D-6E8A-4147-A177-3AD203B41FA5}">
                      <a16:colId xmlns:a16="http://schemas.microsoft.com/office/drawing/2014/main" val="1466471097"/>
                    </a:ext>
                  </a:extLst>
                </a:gridCol>
                <a:gridCol w="4129431">
                  <a:extLst>
                    <a:ext uri="{9D8B030D-6E8A-4147-A177-3AD203B41FA5}">
                      <a16:colId xmlns:a16="http://schemas.microsoft.com/office/drawing/2014/main" val="1828057565"/>
                    </a:ext>
                  </a:extLst>
                </a:gridCol>
              </a:tblGrid>
              <a:tr h="58646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 b="1" dirty="0">
                          <a:effectLst/>
                        </a:rPr>
                        <a:t>Student Name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 b="1">
                          <a:effectLst/>
                        </a:rPr>
                        <a:t>Roll Number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 b="1">
                          <a:effectLst/>
                        </a:rPr>
                        <a:t>Role / Responsibility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extLst>
                  <a:ext uri="{0D108BD9-81ED-4DB2-BD59-A6C34878D82A}">
                    <a16:rowId xmlns:a16="http://schemas.microsoft.com/office/drawing/2014/main" val="1207659032"/>
                  </a:ext>
                </a:extLst>
              </a:tr>
              <a:tr h="9233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>
                          <a:effectLst/>
                        </a:rPr>
                        <a:t>P GOPI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>
                          <a:effectLst/>
                        </a:rPr>
                        <a:t>25B11AI924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 dirty="0">
                          <a:effectLst/>
                        </a:rPr>
                        <a:t>Written DDL scripts (tables, keys, constraints)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extLst>
                  <a:ext uri="{0D108BD9-81ED-4DB2-BD59-A6C34878D82A}">
                    <a16:rowId xmlns:a16="http://schemas.microsoft.com/office/drawing/2014/main" val="310860806"/>
                  </a:ext>
                </a:extLst>
              </a:tr>
              <a:tr h="9233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 dirty="0">
                          <a:effectLst/>
                        </a:rPr>
                        <a:t>G JASWANTH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>
                          <a:effectLst/>
                        </a:rPr>
                        <a:t>25B11AI333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 dirty="0">
                          <a:effectLst/>
                        </a:rPr>
                        <a:t>Designed ER diagram &amp; relational schema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extLst>
                  <a:ext uri="{0D108BD9-81ED-4DB2-BD59-A6C34878D82A}">
                    <a16:rowId xmlns:a16="http://schemas.microsoft.com/office/drawing/2014/main" val="3510524217"/>
                  </a:ext>
                </a:extLst>
              </a:tr>
              <a:tr h="9233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>
                          <a:effectLst/>
                        </a:rPr>
                        <a:t>ESWAR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>
                          <a:effectLst/>
                        </a:rPr>
                        <a:t>25B11AI186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>
                          <a:effectLst/>
                        </a:rPr>
                        <a:t>Written </a:t>
                      </a:r>
                      <a:r>
                        <a:rPr lang="en-IN" sz="1600" b="1" dirty="0">
                          <a:effectLst/>
                        </a:rPr>
                        <a:t>CRUD, Join &amp; Aggregate queries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extLst>
                  <a:ext uri="{0D108BD9-81ED-4DB2-BD59-A6C34878D82A}">
                    <a16:rowId xmlns:a16="http://schemas.microsoft.com/office/drawing/2014/main" val="267393444"/>
                  </a:ext>
                </a:extLst>
              </a:tr>
              <a:tr h="9233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 dirty="0">
                          <a:effectLst/>
                        </a:rPr>
                        <a:t>CH CHARAN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>
                          <a:effectLst/>
                        </a:rPr>
                        <a:t>25B11AI223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b="1" dirty="0">
                          <a:effectLst/>
                        </a:rPr>
                        <a:t>Compiled documentation &amp; screenshots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 anchor="ctr"/>
                </a:tc>
                <a:extLst>
                  <a:ext uri="{0D108BD9-81ED-4DB2-BD59-A6C34878D82A}">
                    <a16:rowId xmlns:a16="http://schemas.microsoft.com/office/drawing/2014/main" val="2011786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175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6338D-C4E4-50E8-BA29-547618B6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73B8DA-A831-CF58-5BBC-BC35A73F77C9}"/>
              </a:ext>
            </a:extLst>
          </p:cNvPr>
          <p:cNvSpPr txBox="1"/>
          <p:nvPr/>
        </p:nvSpPr>
        <p:spPr>
          <a:xfrm>
            <a:off x="5535321" y="305282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3901C2D-BC3C-2C2B-001C-36B9B79A622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804" y="339057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56E2B26E-6EDC-643C-C965-B142C0D70E9D}"/>
              </a:ext>
            </a:extLst>
          </p:cNvPr>
          <p:cNvGrpSpPr/>
          <p:nvPr/>
        </p:nvGrpSpPr>
        <p:grpSpPr>
          <a:xfrm>
            <a:off x="3789948" y="68966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23DE83E-A3A8-3666-FA49-D1DF5C30970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1971A349-45DA-1DAF-3D2E-FA87D55D88A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D0DF977A-0C18-B4F4-A3DD-A523BCF71D9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CF01818-B0B9-33DD-DAB2-D3F58DA97EC0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89C47CA-0F7A-986F-3B2F-56D42E6F5BE1}"/>
              </a:ext>
            </a:extLst>
          </p:cNvPr>
          <p:cNvSpPr txBox="1"/>
          <p:nvPr/>
        </p:nvSpPr>
        <p:spPr>
          <a:xfrm>
            <a:off x="4323348" y="305282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DATABASE &amp; CONSTRAINTS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3AFECE-17F8-6EE6-B262-928DF88CAB6B}"/>
              </a:ext>
            </a:extLst>
          </p:cNvPr>
          <p:cNvSpPr txBox="1"/>
          <p:nvPr/>
        </p:nvSpPr>
        <p:spPr>
          <a:xfrm>
            <a:off x="289288" y="1106725"/>
            <a:ext cx="12105223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The database is implemented using </a:t>
            </a:r>
            <a:r>
              <a:rPr lang="en-IN" sz="2800" b="1" dirty="0"/>
              <a:t>SQL</a:t>
            </a:r>
            <a:r>
              <a:rPr lang="en-IN" sz="2800" dirty="0"/>
              <a:t> and consists of </a:t>
            </a:r>
            <a:r>
              <a:rPr lang="en-IN" sz="2800" b="1" dirty="0"/>
              <a:t>6 relational tables</a:t>
            </a:r>
            <a:r>
              <a:rPr lang="en-IN" sz="2800" dirty="0"/>
              <a:t>.</a:t>
            </a:r>
          </a:p>
          <a:p>
            <a:endParaRPr lang="en-IN" sz="8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dirty="0"/>
              <a:t>Data Integrity Constraints :-</a:t>
            </a:r>
            <a:endParaRPr lang="en-IN" sz="2800" dirty="0"/>
          </a:p>
          <a:p>
            <a:r>
              <a:rPr lang="en-IN" sz="2800" dirty="0"/>
              <a:t>   • </a:t>
            </a:r>
            <a:r>
              <a:rPr lang="en-IN" sz="2800" b="1" dirty="0"/>
              <a:t>NOT NULL</a:t>
            </a:r>
            <a:r>
              <a:rPr lang="en-IN" sz="2800" dirty="0"/>
              <a:t> — Ensures mandatory fields contain values</a:t>
            </a:r>
            <a:br>
              <a:rPr lang="en-IN" sz="2800" dirty="0"/>
            </a:br>
            <a:r>
              <a:rPr lang="en-IN" sz="2800" dirty="0"/>
              <a:t>   • </a:t>
            </a:r>
            <a:r>
              <a:rPr lang="en-IN" sz="2800" b="1" dirty="0"/>
              <a:t>UNIQUE</a:t>
            </a:r>
            <a:r>
              <a:rPr lang="en-IN" sz="2800" dirty="0"/>
              <a:t> — Prevents duplicate Aadhaar numbers, PAN numbers, emails</a:t>
            </a:r>
          </a:p>
          <a:p>
            <a:r>
              <a:rPr lang="en-IN" sz="2800" dirty="0"/>
              <a:t>                               and IFSC codes</a:t>
            </a:r>
            <a:br>
              <a:rPr lang="en-IN" sz="2800" dirty="0"/>
            </a:br>
            <a:r>
              <a:rPr lang="en-IN" sz="2800" dirty="0"/>
              <a:t>  • </a:t>
            </a:r>
            <a:r>
              <a:rPr lang="en-IN" sz="2800" b="1" dirty="0"/>
              <a:t>PRIMARY KEY</a:t>
            </a:r>
            <a:r>
              <a:rPr lang="en-IN" sz="2800" dirty="0"/>
              <a:t> — Uniquely identifies each record</a:t>
            </a:r>
            <a:br>
              <a:rPr lang="en-IN" sz="2800" dirty="0"/>
            </a:br>
            <a:r>
              <a:rPr lang="en-IN" sz="2800" dirty="0"/>
              <a:t>  • </a:t>
            </a:r>
            <a:r>
              <a:rPr lang="en-IN" sz="2800" b="1" dirty="0"/>
              <a:t>FOREIGN KEY</a:t>
            </a:r>
            <a:r>
              <a:rPr lang="en-IN" sz="2800" dirty="0"/>
              <a:t> — Maintains relationships between related tables</a:t>
            </a:r>
            <a:br>
              <a:rPr lang="en-IN" sz="2800" dirty="0"/>
            </a:br>
            <a:r>
              <a:rPr lang="en-IN" sz="2800" dirty="0"/>
              <a:t>  • </a:t>
            </a:r>
            <a:r>
              <a:rPr lang="en-IN" sz="2800" b="1" dirty="0"/>
              <a:t>CHECK</a:t>
            </a:r>
            <a:r>
              <a:rPr lang="en-IN" sz="2800" dirty="0"/>
              <a:t> — Restricts invalid values such as negative balances and invalid </a:t>
            </a:r>
          </a:p>
          <a:p>
            <a:r>
              <a:rPr lang="en-IN" sz="2800" dirty="0"/>
              <a:t>                            transaction amounts</a:t>
            </a:r>
            <a:br>
              <a:rPr lang="en-IN" sz="2800" dirty="0"/>
            </a:br>
            <a:r>
              <a:rPr lang="en-IN" sz="2800" dirty="0"/>
              <a:t>  • </a:t>
            </a:r>
            <a:r>
              <a:rPr lang="en-IN" sz="2800" b="1" dirty="0"/>
              <a:t>DEFAULT</a:t>
            </a:r>
            <a:r>
              <a:rPr lang="en-IN" sz="2800" dirty="0"/>
              <a:t> — Provides predefined values such as Active account status and  </a:t>
            </a:r>
          </a:p>
          <a:p>
            <a:r>
              <a:rPr lang="en-IN" sz="2800" dirty="0"/>
              <a:t>                             zero balance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777669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F51D0-8490-0E86-D7FF-BD5588CD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4E009A-4BA6-72DA-C3AE-7E0957596F3D}"/>
              </a:ext>
            </a:extLst>
          </p:cNvPr>
          <p:cNvSpPr txBox="1"/>
          <p:nvPr/>
        </p:nvSpPr>
        <p:spPr>
          <a:xfrm>
            <a:off x="5289421" y="658208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BED31DE-B5A8-A3A5-A261-9956637CCA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446" y="649857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F25BFF65-0626-64F0-34BF-A85A867737DB}"/>
              </a:ext>
            </a:extLst>
          </p:cNvPr>
          <p:cNvGrpSpPr/>
          <p:nvPr/>
        </p:nvGrpSpPr>
        <p:grpSpPr>
          <a:xfrm>
            <a:off x="3544048" y="421892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CAB789AC-AB46-A5D0-DEB1-67990F49A8C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DBE205AD-C678-397B-20E5-A2E39D9B979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A75F0DA3-E5CF-B622-44E2-E5A9D820837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657972B-27E7-8A25-CCEF-A4EC31CC5D6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38A430C-D5A9-77FF-9CA2-2779CACDC320}"/>
              </a:ext>
            </a:extLst>
          </p:cNvPr>
          <p:cNvSpPr txBox="1"/>
          <p:nvPr/>
        </p:nvSpPr>
        <p:spPr>
          <a:xfrm>
            <a:off x="4077448" y="658208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SAMPLE  DATA  INSERTION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667D6-C0B5-CA34-7888-38EE6B207D51}"/>
              </a:ext>
            </a:extLst>
          </p:cNvPr>
          <p:cNvSpPr txBox="1"/>
          <p:nvPr/>
        </p:nvSpPr>
        <p:spPr>
          <a:xfrm>
            <a:off x="1090863" y="1659493"/>
            <a:ext cx="10331116" cy="47373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inserted into every table to demonstrate full functionality:</a:t>
            </a:r>
          </a:p>
          <a:p>
            <a:pPr>
              <a:spcBef>
                <a:spcPts val="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Branches </a:t>
            </a:r>
          </a:p>
          <a:p>
            <a:pPr>
              <a:spcBef>
                <a:spcPts val="400"/>
              </a:spcBef>
            </a:pPr>
            <a:endParaRPr lang="en-I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Customers </a:t>
            </a:r>
          </a:p>
          <a:p>
            <a:pPr>
              <a:spcBef>
                <a:spcPts val="400"/>
              </a:spcBef>
            </a:pPr>
            <a:endParaRPr lang="en-I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Employees </a:t>
            </a:r>
          </a:p>
          <a:p>
            <a:pPr>
              <a:spcBef>
                <a:spcPts val="400"/>
              </a:spcBef>
            </a:pPr>
            <a:endParaRPr lang="en-I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Accounts </a:t>
            </a:r>
          </a:p>
          <a:p>
            <a:pPr>
              <a:spcBef>
                <a:spcPts val="400"/>
              </a:spcBef>
            </a:pPr>
            <a:endParaRPr lang="en-I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Loans </a:t>
            </a:r>
          </a:p>
          <a:p>
            <a:pPr>
              <a:spcBef>
                <a:spcPts val="400"/>
              </a:spcBef>
            </a:pPr>
            <a:endParaRPr lang="en-I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Transaction records</a:t>
            </a:r>
          </a:p>
        </p:txBody>
      </p:sp>
    </p:spTree>
    <p:extLst>
      <p:ext uri="{BB962C8B-B14F-4D97-AF65-F5344CB8AC3E}">
        <p14:creationId xmlns:p14="http://schemas.microsoft.com/office/powerpoint/2010/main" val="1225812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331B3-4464-B33B-9F8F-08F08FF5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728D6C-6789-C437-90D3-976C9F1C4CF7}"/>
              </a:ext>
            </a:extLst>
          </p:cNvPr>
          <p:cNvSpPr txBox="1"/>
          <p:nvPr/>
        </p:nvSpPr>
        <p:spPr>
          <a:xfrm>
            <a:off x="5326773" y="41757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4BF951A-EA22-5B1E-3AED-8FDDD96AA7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881" y="426774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1F33A6DA-DB5F-9852-8B18-00F22777451F}"/>
              </a:ext>
            </a:extLst>
          </p:cNvPr>
          <p:cNvGrpSpPr/>
          <p:nvPr/>
        </p:nvGrpSpPr>
        <p:grpSpPr>
          <a:xfrm>
            <a:off x="3581400" y="18126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0E39EB3B-CAA4-3B09-F843-C89A906B0F9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6D57314B-32E5-BF39-6953-654F0559087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7E783F3-6B50-30CC-EB6F-602BA0D90F9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06E871E-AB60-EA1F-7536-F91700C7BE2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0735877-66CE-8BF0-BFF4-7C418C2794D9}"/>
              </a:ext>
            </a:extLst>
          </p:cNvPr>
          <p:cNvSpPr txBox="1"/>
          <p:nvPr/>
        </p:nvSpPr>
        <p:spPr>
          <a:xfrm>
            <a:off x="4114800" y="41757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7DE289B-3297-5B75-0B38-5EA39E51F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846657"/>
              </p:ext>
            </p:extLst>
          </p:nvPr>
        </p:nvGraphicFramePr>
        <p:xfrm>
          <a:off x="838200" y="1418862"/>
          <a:ext cx="11021568" cy="4515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3856">
                  <a:extLst>
                    <a:ext uri="{9D8B030D-6E8A-4147-A177-3AD203B41FA5}">
                      <a16:colId xmlns:a16="http://schemas.microsoft.com/office/drawing/2014/main" val="4256280552"/>
                    </a:ext>
                  </a:extLst>
                </a:gridCol>
                <a:gridCol w="3673856">
                  <a:extLst>
                    <a:ext uri="{9D8B030D-6E8A-4147-A177-3AD203B41FA5}">
                      <a16:colId xmlns:a16="http://schemas.microsoft.com/office/drawing/2014/main" val="3657609738"/>
                    </a:ext>
                  </a:extLst>
                </a:gridCol>
                <a:gridCol w="3673856">
                  <a:extLst>
                    <a:ext uri="{9D8B030D-6E8A-4147-A177-3AD203B41FA5}">
                      <a16:colId xmlns:a16="http://schemas.microsoft.com/office/drawing/2014/main" val="44388750"/>
                    </a:ext>
                  </a:extLst>
                </a:gridCol>
              </a:tblGrid>
              <a:tr h="929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DDL – Data Definition Language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DML – Data Manipulation Language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DQL – Data Query Language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165633"/>
                  </a:ext>
                </a:extLst>
              </a:tr>
              <a:tr h="929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Defines and manages database structures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Inserts and modifies data in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Retrieves and analyzes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875814"/>
                  </a:ext>
                </a:extLst>
              </a:tr>
              <a:tr h="531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CREATE TABLE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INSERT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SELECT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768903"/>
                  </a:ext>
                </a:extLst>
              </a:tr>
              <a:tr h="5312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CREATE VIEW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UPDATE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WHERE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572278"/>
                  </a:ext>
                </a:extLst>
              </a:tr>
              <a:tr h="5312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DELETE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ORDER BY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286840"/>
                  </a:ext>
                </a:extLst>
              </a:tr>
              <a:tr h="5312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GROUP BY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743122"/>
                  </a:ext>
                </a:extLst>
              </a:tr>
              <a:tr h="5312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HAVING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328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767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4517-02A8-0DBF-A11F-BEB943B75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68854E-0817-CFEE-0215-6239D847549F}"/>
              </a:ext>
            </a:extLst>
          </p:cNvPr>
          <p:cNvSpPr txBox="1"/>
          <p:nvPr/>
        </p:nvSpPr>
        <p:spPr>
          <a:xfrm>
            <a:off x="5888246" y="417577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4B0DD9F-039A-AE0C-DF69-EECD03C8E5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053" y="413115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CC05E09F-5662-CA32-3E8B-9CCAE121EA29}"/>
              </a:ext>
            </a:extLst>
          </p:cNvPr>
          <p:cNvGrpSpPr/>
          <p:nvPr/>
        </p:nvGrpSpPr>
        <p:grpSpPr>
          <a:xfrm>
            <a:off x="4142873" y="181261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46A2AB-D132-8142-4A56-A3AC1FC98F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4E444B76-E2CA-2FD0-E63F-AF3DF8C081D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20803F1-DC0D-EC61-C439-F17464DFBFA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10529DA-8199-6663-5DA7-C3FED107271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42B5DA-8586-26C9-B221-82E13F63669A}"/>
              </a:ext>
            </a:extLst>
          </p:cNvPr>
          <p:cNvSpPr txBox="1"/>
          <p:nvPr/>
        </p:nvSpPr>
        <p:spPr>
          <a:xfrm>
            <a:off x="4676273" y="417577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CRUD &amp; SQL QUERIES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DC367-B948-DF77-AEE6-823D8EDFA119}"/>
              </a:ext>
            </a:extLst>
          </p:cNvPr>
          <p:cNvSpPr txBox="1"/>
          <p:nvPr/>
        </p:nvSpPr>
        <p:spPr>
          <a:xfrm>
            <a:off x="363612" y="1255032"/>
            <a:ext cx="4491789" cy="500775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CRUD OPERATIONS :-</a:t>
            </a:r>
          </a:p>
          <a:p>
            <a:endParaRPr lang="en-IN" sz="6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CREATE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READ</a:t>
            </a:r>
            <a:r>
              <a:rPr lang="en-IN" sz="24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UPDATE</a:t>
            </a:r>
            <a:r>
              <a:rPr lang="en-IN" sz="24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DELETE</a:t>
            </a:r>
            <a:r>
              <a:rPr lang="en-IN" sz="2400" dirty="0"/>
              <a:t> </a:t>
            </a:r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Advanced SQL Operations :-</a:t>
            </a:r>
          </a:p>
          <a:p>
            <a:endParaRPr lang="en-IN" sz="800" dirty="0"/>
          </a:p>
          <a:p>
            <a:pPr lvl="1"/>
            <a:r>
              <a:rPr lang="en-IN" sz="2400" dirty="0"/>
              <a:t>• JOINs</a:t>
            </a:r>
            <a:br>
              <a:rPr lang="en-IN" sz="2400" dirty="0"/>
            </a:br>
            <a:r>
              <a:rPr lang="en-IN" sz="2400" dirty="0"/>
              <a:t>• Aggregates</a:t>
            </a:r>
            <a:br>
              <a:rPr lang="en-IN" sz="2400" dirty="0"/>
            </a:br>
            <a:r>
              <a:rPr lang="en-IN" sz="2400" dirty="0"/>
              <a:t>• GROUP BY and HAVING</a:t>
            </a:r>
            <a:br>
              <a:rPr lang="en-IN" sz="2400" dirty="0"/>
            </a:br>
            <a:r>
              <a:rPr lang="en-IN" sz="2400" dirty="0"/>
              <a:t>• Subqueries</a:t>
            </a:r>
            <a:br>
              <a:rPr lang="en-IN" sz="2400" dirty="0"/>
            </a:br>
            <a:r>
              <a:rPr lang="en-IN" sz="2400" dirty="0"/>
              <a:t>• Filtering and sorting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C1C9B3-7FF7-0228-1B0B-3D4C115469C4}"/>
              </a:ext>
            </a:extLst>
          </p:cNvPr>
          <p:cNvSpPr txBox="1"/>
          <p:nvPr/>
        </p:nvSpPr>
        <p:spPr>
          <a:xfrm>
            <a:off x="5150772" y="1255032"/>
            <a:ext cx="3088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b="1" dirty="0"/>
              <a:t>SQL QUERY :-</a:t>
            </a:r>
            <a:endParaRPr lang="en-IN" sz="2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BBB123-E7D7-A1CD-0CA5-F073DF4AF1CF}"/>
              </a:ext>
            </a:extLst>
          </p:cNvPr>
          <p:cNvSpPr txBox="1"/>
          <p:nvPr/>
        </p:nvSpPr>
        <p:spPr>
          <a:xfrm>
            <a:off x="5150772" y="3460787"/>
            <a:ext cx="3088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b="1" dirty="0"/>
              <a:t>QUERY RESULT :-</a:t>
            </a:r>
            <a:endParaRPr lang="en-IN" sz="2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FE4876-44AC-A22A-4790-0BBBC82A4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783438"/>
            <a:ext cx="5077534" cy="14194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FC41841-7ED0-9454-6144-8D6A428F48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5381" y="3922537"/>
            <a:ext cx="5498771" cy="271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51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99F2-1277-CF6D-0583-55DA776C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D7B18-2288-E2AC-3BE2-951AC45FD464}"/>
              </a:ext>
            </a:extLst>
          </p:cNvPr>
          <p:cNvSpPr txBox="1"/>
          <p:nvPr/>
        </p:nvSpPr>
        <p:spPr>
          <a:xfrm>
            <a:off x="5775951" y="385492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CA0F6E7-886B-0B06-0D28-49F3ACB381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081" y="522437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E2E4866B-DEE6-E7F6-5D25-A0F7FB1CB207}"/>
              </a:ext>
            </a:extLst>
          </p:cNvPr>
          <p:cNvGrpSpPr/>
          <p:nvPr/>
        </p:nvGrpSpPr>
        <p:grpSpPr>
          <a:xfrm>
            <a:off x="4030578" y="149176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ED165A49-560B-61B0-FDA7-8FB8E7509A7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7C52777C-E995-D041-DB60-B512CFC76E4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A22948B-F803-7F98-60DE-C5E6AE1180D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D9F8761-6C95-A1B3-6369-6DEFDA46F4A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0F39D30-C2D2-F51E-F2D4-80CD9230C21E}"/>
              </a:ext>
            </a:extLst>
          </p:cNvPr>
          <p:cNvSpPr txBox="1"/>
          <p:nvPr/>
        </p:nvSpPr>
        <p:spPr>
          <a:xfrm>
            <a:off x="4563978" y="385492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43D0FFA-B9E4-4581-685F-72BEBB74E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670268"/>
              </p:ext>
            </p:extLst>
          </p:nvPr>
        </p:nvGraphicFramePr>
        <p:xfrm>
          <a:off x="580081" y="1025252"/>
          <a:ext cx="11258994" cy="5566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9497">
                  <a:extLst>
                    <a:ext uri="{9D8B030D-6E8A-4147-A177-3AD203B41FA5}">
                      <a16:colId xmlns:a16="http://schemas.microsoft.com/office/drawing/2014/main" val="3133064985"/>
                    </a:ext>
                  </a:extLst>
                </a:gridCol>
                <a:gridCol w="5629497">
                  <a:extLst>
                    <a:ext uri="{9D8B030D-6E8A-4147-A177-3AD203B41FA5}">
                      <a16:colId xmlns:a16="http://schemas.microsoft.com/office/drawing/2014/main" val="1165163945"/>
                    </a:ext>
                  </a:extLst>
                </a:gridCol>
              </a:tblGrid>
              <a:tr h="391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Constraint / Validation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Implementation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126967445"/>
                  </a:ext>
                </a:extLst>
              </a:tr>
              <a:tr h="686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PRIMARY KEY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BranchID, CustomerID, EmployeeID, AccountNumber, TransactionID, LoanID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234649118"/>
                  </a:ext>
                </a:extLst>
              </a:tr>
              <a:tr h="98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FOREIGN KEY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Employee → </a:t>
                      </a:r>
                      <a:r>
                        <a:rPr lang="en-IN" sz="1800" dirty="0" err="1"/>
                        <a:t>BranchID</a:t>
                      </a:r>
                      <a:r>
                        <a:rPr lang="en-IN" sz="1800" dirty="0"/>
                        <a:t>, Account → </a:t>
                      </a:r>
                      <a:r>
                        <a:rPr lang="en-IN" sz="1800" dirty="0" err="1"/>
                        <a:t>CustomerID</a:t>
                      </a:r>
                      <a:r>
                        <a:rPr lang="en-IN" sz="1800" dirty="0"/>
                        <a:t>&amp; </a:t>
                      </a:r>
                      <a:r>
                        <a:rPr lang="en-IN" sz="1800" dirty="0" err="1"/>
                        <a:t>BranchID</a:t>
                      </a:r>
                      <a:r>
                        <a:rPr lang="en-IN" sz="1800" dirty="0"/>
                        <a:t>, </a:t>
                      </a:r>
                      <a:r>
                        <a:rPr lang="en-IN" sz="1800" dirty="0" err="1"/>
                        <a:t>TransactionRecord</a:t>
                      </a:r>
                      <a:r>
                        <a:rPr lang="en-IN" sz="1800" dirty="0"/>
                        <a:t> → </a:t>
                      </a:r>
                      <a:r>
                        <a:rPr lang="en-IN" sz="1800" dirty="0" err="1"/>
                        <a:t>AccountID</a:t>
                      </a:r>
                      <a:r>
                        <a:rPr lang="en-IN" sz="1800" dirty="0"/>
                        <a:t>, Loan → </a:t>
                      </a:r>
                      <a:r>
                        <a:rPr lang="en-IN" sz="1800" dirty="0" err="1"/>
                        <a:t>CustomerID</a:t>
                      </a:r>
                      <a:r>
                        <a:rPr lang="en-IN" sz="1800" dirty="0"/>
                        <a:t> &amp; </a:t>
                      </a:r>
                      <a:r>
                        <a:rPr lang="en-IN" sz="1800" dirty="0" err="1"/>
                        <a:t>BranchID</a:t>
                      </a:r>
                      <a:endParaRPr lang="en-IN" sz="1800" dirty="0"/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307863771"/>
                  </a:ext>
                </a:extLst>
              </a:tr>
              <a:tr h="391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NOT NULL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Applied to mandatory all attributes like </a:t>
                      </a:r>
                      <a:r>
                        <a:rPr lang="en-IN" sz="1800" dirty="0" err="1"/>
                        <a:t>Address,Phone,etc</a:t>
                      </a:r>
                      <a:r>
                        <a:rPr lang="en-IN" sz="1800" dirty="0"/>
                        <a:t>..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664441731"/>
                  </a:ext>
                </a:extLst>
              </a:tr>
              <a:tr h="391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UNIQUE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IFSCCode, AadhaarNo, PANNo, Email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929816802"/>
                  </a:ext>
                </a:extLst>
              </a:tr>
              <a:tr h="686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CHECK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Validates </a:t>
                      </a:r>
                      <a:r>
                        <a:rPr lang="en-IN" sz="1800" dirty="0" err="1"/>
                        <a:t>AccountType</a:t>
                      </a:r>
                      <a:r>
                        <a:rPr lang="en-IN" sz="1800" dirty="0"/>
                        <a:t>, Status, </a:t>
                      </a:r>
                      <a:r>
                        <a:rPr lang="en-IN" sz="1800" dirty="0" err="1"/>
                        <a:t>TransactionType</a:t>
                      </a:r>
                      <a:r>
                        <a:rPr lang="en-IN" sz="1800" dirty="0"/>
                        <a:t>, </a:t>
                      </a:r>
                      <a:r>
                        <a:rPr lang="en-IN" sz="1800" dirty="0" err="1"/>
                        <a:t>LoanType</a:t>
                      </a:r>
                      <a:r>
                        <a:rPr lang="en-IN" sz="1800" dirty="0"/>
                        <a:t>, Balance, Amount, </a:t>
                      </a:r>
                      <a:r>
                        <a:rPr lang="en-IN" sz="1800" dirty="0" err="1"/>
                        <a:t>InterestRate</a:t>
                      </a:r>
                      <a:endParaRPr lang="en-IN" sz="1800" dirty="0"/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146478479"/>
                  </a:ext>
                </a:extLst>
              </a:tr>
              <a:tr h="596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DEFAULT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CreatedAt, Account Status, Balance, Loan Status, TransactionDate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286039147"/>
                  </a:ext>
                </a:extLst>
              </a:tr>
              <a:tr h="391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Balance Validation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Account Balance must be ≥ 0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228825003"/>
                  </a:ext>
                </a:extLst>
              </a:tr>
              <a:tr h="391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Transaction Validation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Transaction Amount must be &gt; 0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948986635"/>
                  </a:ext>
                </a:extLst>
              </a:tr>
              <a:tr h="391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Interest Validation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Interest Rate must be between 0 and 100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196772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116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4ADEC-2ED0-E547-ED33-DEDD679BF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7CD722-C940-21B7-6A0D-AB9BFCC882C0}"/>
              </a:ext>
            </a:extLst>
          </p:cNvPr>
          <p:cNvSpPr txBox="1"/>
          <p:nvPr/>
        </p:nvSpPr>
        <p:spPr>
          <a:xfrm>
            <a:off x="5583448" y="54591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4891337-0249-C232-5AD9-92A05CA553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350" y="54145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2676EFC-73E2-9146-9EFC-EE99B9A83DB2}"/>
              </a:ext>
            </a:extLst>
          </p:cNvPr>
          <p:cNvGrpSpPr/>
          <p:nvPr/>
        </p:nvGrpSpPr>
        <p:grpSpPr>
          <a:xfrm>
            <a:off x="3838075" y="309597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EB575BFB-DD61-B550-AF48-5C2A5C7AB68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48892618-0022-8166-E39B-3350C5484FC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24661F1-62D3-07AD-719E-1DCECB0C59F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D008940-5393-E963-4235-21420BAF7A4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B53F127-C5F1-E631-2AF9-A4D44CEA08AB}"/>
              </a:ext>
            </a:extLst>
          </p:cNvPr>
          <p:cNvSpPr txBox="1"/>
          <p:nvPr/>
        </p:nvSpPr>
        <p:spPr>
          <a:xfrm>
            <a:off x="4371475" y="54591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40154-1F6D-A2EB-6CFB-70FA09016C04}"/>
              </a:ext>
            </a:extLst>
          </p:cNvPr>
          <p:cNvSpPr txBox="1"/>
          <p:nvPr/>
        </p:nvSpPr>
        <p:spPr>
          <a:xfrm>
            <a:off x="689811" y="1441167"/>
            <a:ext cx="1092467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buFont typeface="Wingdings" panose="05000000000000000000" pitchFamily="2" charset="2"/>
              <a:buChar char="Ø"/>
            </a:pPr>
            <a:r>
              <a:rPr lang="en-IN" sz="2800" dirty="0"/>
              <a:t>Complete project documentation prepared for final submission </a:t>
            </a:r>
          </a:p>
          <a:p>
            <a:pPr marL="514350" lvl="0" indent="-514350">
              <a:buFont typeface="Wingdings" panose="05000000000000000000" pitchFamily="2" charset="2"/>
              <a:buChar char="Ø"/>
            </a:pPr>
            <a:r>
              <a:rPr lang="en-IN" sz="2800" dirty="0"/>
              <a:t>ER Diagram and Relational Schema included </a:t>
            </a:r>
          </a:p>
          <a:p>
            <a:pPr marL="514350" lvl="0" indent="-514350">
              <a:buFont typeface="Wingdings" panose="05000000000000000000" pitchFamily="2" charset="2"/>
              <a:buChar char="Ø"/>
            </a:pPr>
            <a:r>
              <a:rPr lang="en-IN" sz="2800" dirty="0"/>
              <a:t>Database design, entities, relationships and normalization documented </a:t>
            </a:r>
          </a:p>
          <a:p>
            <a:pPr marL="514350" lvl="0" indent="-514350">
              <a:buFont typeface="Wingdings" panose="05000000000000000000" pitchFamily="2" charset="2"/>
              <a:buChar char="Ø"/>
            </a:pPr>
            <a:r>
              <a:rPr lang="en-IN" sz="2800" dirty="0"/>
              <a:t>DDL, DML, DQL and CRUD operations documented </a:t>
            </a:r>
          </a:p>
          <a:p>
            <a:pPr marL="514350" lvl="0" indent="-514350">
              <a:buFont typeface="Wingdings" panose="05000000000000000000" pitchFamily="2" charset="2"/>
              <a:buChar char="Ø"/>
            </a:pPr>
            <a:r>
              <a:rPr lang="en-IN" sz="2800" dirty="0"/>
              <a:t>SQL queries with joins, aggregates, GROUP BY, HAVING and subqueries included </a:t>
            </a:r>
          </a:p>
          <a:p>
            <a:pPr marL="514350" lvl="0" indent="-514350">
              <a:buFont typeface="Wingdings" panose="05000000000000000000" pitchFamily="2" charset="2"/>
              <a:buChar char="Ø"/>
            </a:pPr>
            <a:r>
              <a:rPr lang="en-IN" sz="2800" dirty="0"/>
              <a:t>Sample data and query outputs/screenshots added </a:t>
            </a:r>
          </a:p>
          <a:p>
            <a:pPr marL="514350" lvl="0" indent="-514350">
              <a:buFont typeface="Wingdings" panose="05000000000000000000" pitchFamily="2" charset="2"/>
              <a:buChar char="Ø"/>
            </a:pPr>
            <a:r>
              <a:rPr lang="en-IN" sz="2800" dirty="0"/>
              <a:t>Database constraints and data integrity explained </a:t>
            </a:r>
          </a:p>
          <a:p>
            <a:pPr marL="514350" lvl="0" indent="-514350">
              <a:buFont typeface="Wingdings" panose="05000000000000000000" pitchFamily="2" charset="2"/>
              <a:buChar char="Ø"/>
            </a:pPr>
            <a:r>
              <a:rPr lang="en-IN" sz="2800" dirty="0"/>
              <a:t>Modules, team contributions, enhancements and conclusion included</a:t>
            </a:r>
          </a:p>
        </p:txBody>
      </p:sp>
    </p:spTree>
    <p:extLst>
      <p:ext uri="{BB962C8B-B14F-4D97-AF65-F5344CB8AC3E}">
        <p14:creationId xmlns:p14="http://schemas.microsoft.com/office/powerpoint/2010/main" val="1934370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21F38-CBF9-4CA0-D8D5-AC046C9B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74729C-BB7B-44FB-A086-8926CFB1509D}"/>
              </a:ext>
            </a:extLst>
          </p:cNvPr>
          <p:cNvSpPr txBox="1"/>
          <p:nvPr/>
        </p:nvSpPr>
        <p:spPr>
          <a:xfrm>
            <a:off x="5358857" y="529872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9CFD731-43AE-3267-E4D0-D160E2383D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87" y="582360"/>
            <a:ext cx="94449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B272330F-2F23-CD3F-2CC0-B07BC57D1D95}"/>
              </a:ext>
            </a:extLst>
          </p:cNvPr>
          <p:cNvGrpSpPr/>
          <p:nvPr/>
        </p:nvGrpSpPr>
        <p:grpSpPr>
          <a:xfrm>
            <a:off x="3613484" y="293556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C63BAF4D-A48B-77C8-F3A9-BBD2F354F5B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1C228243-A64B-BCDE-407C-3D2CBBAF4F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3FF42D12-10F1-0713-E42A-53F31DA01A1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4D7233A-A38E-44E6-9A89-07E262380675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677C7AD-3B13-92BC-069A-E1530407D30A}"/>
              </a:ext>
            </a:extLst>
          </p:cNvPr>
          <p:cNvSpPr txBox="1"/>
          <p:nvPr/>
        </p:nvSpPr>
        <p:spPr>
          <a:xfrm>
            <a:off x="4146884" y="529872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02649-73FC-25FA-7DFB-93766B2E4B2A}"/>
              </a:ext>
            </a:extLst>
          </p:cNvPr>
          <p:cNvSpPr txBox="1"/>
          <p:nvPr/>
        </p:nvSpPr>
        <p:spPr>
          <a:xfrm>
            <a:off x="723887" y="1262174"/>
            <a:ext cx="108264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DEMONSTRATION &amp; RESULTS</a:t>
            </a:r>
            <a:endParaRPr lang="en-IN" sz="2400" dirty="0"/>
          </a:p>
          <a:p>
            <a:r>
              <a:rPr lang="en-IN" sz="2400" dirty="0"/>
              <a:t>The working database is demonstrated through the following steps:</a:t>
            </a:r>
          </a:p>
          <a:p>
            <a:r>
              <a:rPr lang="en-IN" sz="2400" b="1" dirty="0"/>
              <a:t>1. Database Creation</a:t>
            </a:r>
            <a:endParaRPr lang="en-IN" sz="2400" dirty="0"/>
          </a:p>
          <a:p>
            <a:r>
              <a:rPr lang="en-IN" sz="2400" dirty="0"/>
              <a:t>	Execute the schema to create all six tables and constraints.</a:t>
            </a:r>
          </a:p>
          <a:p>
            <a:r>
              <a:rPr lang="en-IN" sz="2400" b="1" dirty="0"/>
              <a:t>2. Data Population</a:t>
            </a:r>
            <a:endParaRPr lang="en-IN" sz="2400" dirty="0"/>
          </a:p>
          <a:p>
            <a:r>
              <a:rPr lang="en-IN" sz="2400" dirty="0"/>
              <a:t>	Execute the seed file to insert sample branches, customers, employees, 	accounts, loans and transactions.</a:t>
            </a:r>
          </a:p>
          <a:p>
            <a:r>
              <a:rPr lang="en-IN" sz="2400" b="1" dirty="0"/>
              <a:t>3. Banking Operations</a:t>
            </a:r>
            <a:endParaRPr lang="en-IN" sz="2400" dirty="0"/>
          </a:p>
          <a:p>
            <a:r>
              <a:rPr lang="en-IN" sz="2400" dirty="0"/>
              <a:t>	Demonstrate deposit and withdrawal operations and verify the updated 	account balance.</a:t>
            </a:r>
          </a:p>
          <a:p>
            <a:r>
              <a:rPr lang="en-IN" sz="2400" b="1" dirty="0"/>
              <a:t>4. SQL Analysis</a:t>
            </a:r>
            <a:endParaRPr lang="en-IN" sz="2400" dirty="0"/>
          </a:p>
          <a:p>
            <a:r>
              <a:rPr lang="en-IN" sz="2400" dirty="0"/>
              <a:t>	Execute JOIN, aggregate, GROUP BY/HAVING and subquery operations.</a:t>
            </a:r>
          </a:p>
          <a:p>
            <a:r>
              <a:rPr lang="en-IN" sz="2400" b="1" dirty="0"/>
              <a:t>5. Results</a:t>
            </a:r>
            <a:endParaRPr lang="en-IN" sz="2400" dirty="0"/>
          </a:p>
          <a:p>
            <a:r>
              <a:rPr lang="en-IN" sz="2400" dirty="0"/>
              <a:t>	Display the generated query results and transaction records.</a:t>
            </a:r>
          </a:p>
        </p:txBody>
      </p:sp>
    </p:spTree>
    <p:extLst>
      <p:ext uri="{BB962C8B-B14F-4D97-AF65-F5344CB8AC3E}">
        <p14:creationId xmlns:p14="http://schemas.microsoft.com/office/powerpoint/2010/main" val="112646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161B-2F99-03D4-5981-5CF16711F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FF21CA-D28C-6FE4-2382-93C3EC4AFF78}"/>
              </a:ext>
            </a:extLst>
          </p:cNvPr>
          <p:cNvSpPr txBox="1"/>
          <p:nvPr/>
        </p:nvSpPr>
        <p:spPr>
          <a:xfrm>
            <a:off x="946484" y="1460433"/>
            <a:ext cx="1044341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CONCLUSION</a:t>
            </a:r>
          </a:p>
          <a:p>
            <a:r>
              <a:rPr lang="en-IN" sz="2000" dirty="0"/>
              <a:t>          	The </a:t>
            </a:r>
            <a:r>
              <a:rPr lang="en-IN" sz="2000" b="1" dirty="0"/>
              <a:t>Bank Account Management System</a:t>
            </a:r>
            <a:r>
              <a:rPr lang="en-IN" sz="2000" dirty="0"/>
              <a:t> successfully implements a </a:t>
            </a:r>
            <a:r>
              <a:rPr lang="en-IN" sz="2000" b="1" dirty="0"/>
              <a:t>3NF relational 	database</a:t>
            </a:r>
            <a:r>
              <a:rPr lang="en-IN" sz="2000" dirty="0"/>
              <a:t> for core banking operations.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Key Achievements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6 tables</a:t>
            </a:r>
            <a:r>
              <a:rPr lang="en-IN" sz="2000" dirty="0"/>
              <a:t> with </a:t>
            </a:r>
            <a:r>
              <a:rPr lang="en-IN" sz="2000" b="1" dirty="0"/>
              <a:t>5 foreign-key relationships</a:t>
            </a:r>
            <a:endParaRPr lang="en-IN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Strong </a:t>
            </a:r>
            <a:r>
              <a:rPr lang="en-IN" sz="2000" b="1" dirty="0"/>
              <a:t>data integrity and validation</a:t>
            </a:r>
            <a:endParaRPr lang="en-IN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Sample data and major </a:t>
            </a:r>
            <a:r>
              <a:rPr lang="en-IN" sz="2000" b="1" dirty="0"/>
              <a:t>SQL &amp; CRUD operations</a:t>
            </a:r>
            <a:r>
              <a:rPr lang="en-IN" sz="2000" dirty="0"/>
              <a:t> implemented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Joins and aggregate queries successfully demonstrated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Key Learning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/>
              <a:t>The project demonstrates how </a:t>
            </a:r>
            <a:r>
              <a:rPr lang="en-IN" sz="2000" b="1" dirty="0"/>
              <a:t>database design and SQL</a:t>
            </a:r>
            <a:r>
              <a:rPr lang="en-IN" sz="2000" dirty="0"/>
              <a:t> support accurate, consistent, and efficient data management.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Future Enhancements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Transaction Triggers</a:t>
            </a:r>
            <a:endParaRPr lang="en-IN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Role-Based Access</a:t>
            </a:r>
            <a:endParaRPr lang="en-IN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Banking Dashboard</a:t>
            </a:r>
            <a:endParaRPr lang="en-IN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Automated Loan &amp; EMI Management</a:t>
            </a:r>
            <a:endParaRPr lang="en-IN" sz="200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8116CE6-24CD-3B76-1E2F-357677F7B7DB}"/>
              </a:ext>
            </a:extLst>
          </p:cNvPr>
          <p:cNvGrpSpPr/>
          <p:nvPr/>
        </p:nvGrpSpPr>
        <p:grpSpPr>
          <a:xfrm>
            <a:off x="3776659" y="328863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3039B3C-ECE3-C788-0D15-AB34F6E1ED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31CB413-BA52-A087-9EC3-85E90DF5BF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40AB711-24F6-B613-FCB9-07CC6D9FDB2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B7499E7-57B1-9F52-43CF-A18B4D9577D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9">
            <a:extLst>
              <a:ext uri="{FF2B5EF4-FFF2-40B4-BE49-F238E27FC236}">
                <a16:creationId xmlns:a16="http://schemas.microsoft.com/office/drawing/2014/main" id="{54F71755-78CA-65F1-2022-233F02D2DD17}"/>
              </a:ext>
            </a:extLst>
          </p:cNvPr>
          <p:cNvSpPr txBox="1">
            <a:spLocks/>
          </p:cNvSpPr>
          <p:nvPr/>
        </p:nvSpPr>
        <p:spPr>
          <a:xfrm>
            <a:off x="5244666" y="609056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19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76936B16-4D12-7DB0-2D2C-E47C6D0B178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7634" y="556828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73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8197-A9D8-B033-5ED3-89CF37A643D4}"/>
              </a:ext>
            </a:extLst>
          </p:cNvPr>
          <p:cNvSpPr txBox="1">
            <a:spLocks/>
          </p:cNvSpPr>
          <p:nvPr/>
        </p:nvSpPr>
        <p:spPr>
          <a:xfrm>
            <a:off x="3712463" y="2840736"/>
            <a:ext cx="4628147" cy="9464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6600" b="1" dirty="0">
                <a:solidFill>
                  <a:schemeClr val="accent2"/>
                </a:solidFill>
              </a:rPr>
              <a:t>THANK YOU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7AAB045-377D-4619-645D-3187135A5D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338" y="493069"/>
            <a:ext cx="1313461" cy="59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93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1339</Words>
  <Application>Microsoft Office PowerPoint</Application>
  <PresentationFormat>Widescreen</PresentationFormat>
  <Paragraphs>238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Jaswanth REDDY</dc:creator>
  <cp:lastModifiedBy>Jaswanth REDDY</cp:lastModifiedBy>
  <cp:revision>1</cp:revision>
  <dcterms:created xsi:type="dcterms:W3CDTF">2026-09-13T15:38:35Z</dcterms:created>
  <dcterms:modified xsi:type="dcterms:W3CDTF">2026-09-29T15:53:27Z</dcterms:modified>
</cp:coreProperties>
</file>